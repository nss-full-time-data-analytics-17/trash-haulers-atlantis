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9" r:id="rId2"/>
    <p:sldId id="260" r:id="rId3"/>
    <p:sldId id="258" r:id="rId4"/>
    <p:sldId id="257" r:id="rId5"/>
    <p:sldId id="261" r:id="rId6"/>
    <p:sldId id="256" r:id="rId7"/>
    <p:sldId id="265" r:id="rId8"/>
    <p:sldId id="262" r:id="rId9"/>
    <p:sldId id="263" r:id="rId10"/>
    <p:sldId id="26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1" d="100"/>
          <a:sy n="151" d="100"/>
        </p:scale>
        <p:origin x="654"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1839FD6-FEB9-4A4A-B5BB-6065DE1E2189}"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919B07-CB31-47D2-8B51-826E6F6670F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14361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839FD6-FEB9-4A4A-B5BB-6065DE1E2189}"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919B07-CB31-47D2-8B51-826E6F6670FF}" type="slidenum">
              <a:rPr lang="en-US" smtClean="0"/>
              <a:t>‹#›</a:t>
            </a:fld>
            <a:endParaRPr lang="en-US"/>
          </a:p>
        </p:txBody>
      </p:sp>
    </p:spTree>
    <p:extLst>
      <p:ext uri="{BB962C8B-B14F-4D97-AF65-F5344CB8AC3E}">
        <p14:creationId xmlns:p14="http://schemas.microsoft.com/office/powerpoint/2010/main" val="312791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839FD6-FEB9-4A4A-B5BB-6065DE1E2189}"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919B07-CB31-47D2-8B51-826E6F6670F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6071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1839FD6-FEB9-4A4A-B5BB-6065DE1E2189}"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919B07-CB31-47D2-8B51-826E6F6670FF}" type="slidenum">
              <a:rPr lang="en-US" smtClean="0"/>
              <a:t>‹#›</a:t>
            </a:fld>
            <a:endParaRPr lang="en-US"/>
          </a:p>
        </p:txBody>
      </p:sp>
    </p:spTree>
    <p:extLst>
      <p:ext uri="{BB962C8B-B14F-4D97-AF65-F5344CB8AC3E}">
        <p14:creationId xmlns:p14="http://schemas.microsoft.com/office/powerpoint/2010/main" val="2557999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1839FD6-FEB9-4A4A-B5BB-6065DE1E2189}" type="datetimeFigureOut">
              <a:rPr lang="en-US" smtClean="0"/>
              <a:t>12/17/2025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E919B07-CB31-47D2-8B51-826E6F6670FF}" type="slidenum">
              <a:rPr lang="en-US" smtClean="0"/>
              <a:t>‹#›</a:t>
            </a:fld>
            <a:endParaRPr lang="en-US"/>
          </a:p>
        </p:txBody>
      </p:sp>
    </p:spTree>
    <p:extLst>
      <p:ext uri="{BB962C8B-B14F-4D97-AF65-F5344CB8AC3E}">
        <p14:creationId xmlns:p14="http://schemas.microsoft.com/office/powerpoint/2010/main" val="12002838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1839FD6-FEB9-4A4A-B5BB-6065DE1E2189}" type="datetimeFigureOut">
              <a:rPr lang="en-US" smtClean="0"/>
              <a:t>12/17/2025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919B07-CB31-47D2-8B51-826E6F6670FF}" type="slidenum">
              <a:rPr lang="en-US" smtClean="0"/>
              <a:t>‹#›</a:t>
            </a:fld>
            <a:endParaRPr lang="en-US"/>
          </a:p>
        </p:txBody>
      </p:sp>
    </p:spTree>
    <p:extLst>
      <p:ext uri="{BB962C8B-B14F-4D97-AF65-F5344CB8AC3E}">
        <p14:creationId xmlns:p14="http://schemas.microsoft.com/office/powerpoint/2010/main" val="3334630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1839FD6-FEB9-4A4A-B5BB-6065DE1E2189}" type="datetimeFigureOut">
              <a:rPr lang="en-US" smtClean="0"/>
              <a:t>12/17/2025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4E919B07-CB31-47D2-8B51-826E6F6670FF}" type="slidenum">
              <a:rPr lang="en-US" smtClean="0"/>
              <a:t>‹#›</a:t>
            </a:fld>
            <a:endParaRPr lang="en-US"/>
          </a:p>
        </p:txBody>
      </p:sp>
    </p:spTree>
    <p:extLst>
      <p:ext uri="{BB962C8B-B14F-4D97-AF65-F5344CB8AC3E}">
        <p14:creationId xmlns:p14="http://schemas.microsoft.com/office/powerpoint/2010/main" val="1083281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1839FD6-FEB9-4A4A-B5BB-6065DE1E2189}" type="datetimeFigureOut">
              <a:rPr lang="en-US" smtClean="0"/>
              <a:t>12/17/2025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E919B07-CB31-47D2-8B51-826E6F6670FF}" type="slidenum">
              <a:rPr lang="en-US" smtClean="0"/>
              <a:t>‹#›</a:t>
            </a:fld>
            <a:endParaRPr lang="en-US"/>
          </a:p>
        </p:txBody>
      </p:sp>
    </p:spTree>
    <p:extLst>
      <p:ext uri="{BB962C8B-B14F-4D97-AF65-F5344CB8AC3E}">
        <p14:creationId xmlns:p14="http://schemas.microsoft.com/office/powerpoint/2010/main" val="3264716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1839FD6-FEB9-4A4A-B5BB-6065DE1E2189}"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919B07-CB31-47D2-8B51-826E6F6670FF}" type="slidenum">
              <a:rPr lang="en-US" smtClean="0"/>
              <a:t>‹#›</a:t>
            </a:fld>
            <a:endParaRPr lang="en-US"/>
          </a:p>
        </p:txBody>
      </p:sp>
    </p:spTree>
    <p:extLst>
      <p:ext uri="{BB962C8B-B14F-4D97-AF65-F5344CB8AC3E}">
        <p14:creationId xmlns:p14="http://schemas.microsoft.com/office/powerpoint/2010/main" val="597094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839FD6-FEB9-4A4A-B5BB-6065DE1E2189}"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919B07-CB31-47D2-8B51-826E6F6670FF}" type="slidenum">
              <a:rPr lang="en-US" smtClean="0"/>
              <a:t>‹#›</a:t>
            </a:fld>
            <a:endParaRPr lang="en-US"/>
          </a:p>
        </p:txBody>
      </p:sp>
    </p:spTree>
    <p:extLst>
      <p:ext uri="{BB962C8B-B14F-4D97-AF65-F5344CB8AC3E}">
        <p14:creationId xmlns:p14="http://schemas.microsoft.com/office/powerpoint/2010/main" val="2467051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839FD6-FEB9-4A4A-B5BB-6065DE1E2189}"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919B07-CB31-47D2-8B51-826E6F6670FF}" type="slidenum">
              <a:rPr lang="en-US" smtClean="0"/>
              <a:t>‹#›</a:t>
            </a:fld>
            <a:endParaRPr lang="en-US"/>
          </a:p>
        </p:txBody>
      </p:sp>
    </p:spTree>
    <p:extLst>
      <p:ext uri="{BB962C8B-B14F-4D97-AF65-F5344CB8AC3E}">
        <p14:creationId xmlns:p14="http://schemas.microsoft.com/office/powerpoint/2010/main" val="1676449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1839FD6-FEB9-4A4A-B5BB-6065DE1E2189}" type="datetimeFigureOut">
              <a:rPr lang="en-US" smtClean="0"/>
              <a:t>12/17/2025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E919B07-CB31-47D2-8B51-826E6F6670FF}"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78449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hub.nashville.gov/"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75040-BE70-F524-AB75-FF05BB10CA8D}"/>
              </a:ext>
            </a:extLst>
          </p:cNvPr>
          <p:cNvSpPr>
            <a:spLocks noGrp="1"/>
          </p:cNvSpPr>
          <p:nvPr>
            <p:ph type="ctrTitle"/>
          </p:nvPr>
        </p:nvSpPr>
        <p:spPr/>
        <p:txBody>
          <a:bodyPr>
            <a:normAutofit/>
          </a:bodyPr>
          <a:lstStyle/>
          <a:p>
            <a:r>
              <a:rPr lang="en-US" sz="4800" dirty="0"/>
              <a:t>Missed Trash Pickups in Nashville</a:t>
            </a:r>
          </a:p>
        </p:txBody>
      </p:sp>
      <p:sp>
        <p:nvSpPr>
          <p:cNvPr id="3" name="Subtitle 2">
            <a:extLst>
              <a:ext uri="{FF2B5EF4-FFF2-40B4-BE49-F238E27FC236}">
                <a16:creationId xmlns:a16="http://schemas.microsoft.com/office/drawing/2014/main" id="{24276D7F-D267-35A4-128D-9AD740FD9F0D}"/>
              </a:ext>
            </a:extLst>
          </p:cNvPr>
          <p:cNvSpPr>
            <a:spLocks noGrp="1"/>
          </p:cNvSpPr>
          <p:nvPr>
            <p:ph type="subTitle" idx="1"/>
          </p:nvPr>
        </p:nvSpPr>
        <p:spPr/>
        <p:txBody>
          <a:bodyPr/>
          <a:lstStyle/>
          <a:p>
            <a:r>
              <a:rPr lang="en-US" dirty="0"/>
              <a:t>Team Atlantis</a:t>
            </a:r>
          </a:p>
        </p:txBody>
      </p:sp>
    </p:spTree>
    <p:extLst>
      <p:ext uri="{BB962C8B-B14F-4D97-AF65-F5344CB8AC3E}">
        <p14:creationId xmlns:p14="http://schemas.microsoft.com/office/powerpoint/2010/main" val="3963868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84CA5-1651-281E-1A66-3915CB318D2F}"/>
              </a:ext>
            </a:extLst>
          </p:cNvPr>
          <p:cNvSpPr>
            <a:spLocks noGrp="1"/>
          </p:cNvSpPr>
          <p:nvPr>
            <p:ph type="title"/>
          </p:nvPr>
        </p:nvSpPr>
        <p:spPr/>
        <p:txBody>
          <a:bodyPr/>
          <a:lstStyle/>
          <a:p>
            <a:r>
              <a:rPr lang="en-US" dirty="0"/>
              <a:t>Project Goals</a:t>
            </a:r>
          </a:p>
        </p:txBody>
      </p:sp>
      <p:sp>
        <p:nvSpPr>
          <p:cNvPr id="3" name="Content Placeholder 2">
            <a:extLst>
              <a:ext uri="{FF2B5EF4-FFF2-40B4-BE49-F238E27FC236}">
                <a16:creationId xmlns:a16="http://schemas.microsoft.com/office/drawing/2014/main" id="{2C6C5DCD-1662-466B-D9CC-29BF4159371D}"/>
              </a:ext>
            </a:extLst>
          </p:cNvPr>
          <p:cNvSpPr>
            <a:spLocks noGrp="1"/>
          </p:cNvSpPr>
          <p:nvPr>
            <p:ph idx="1"/>
          </p:nvPr>
        </p:nvSpPr>
        <p:spPr/>
        <p:txBody>
          <a:bodyPr/>
          <a:lstStyle/>
          <a:p>
            <a:r>
              <a:rPr lang="en-US" dirty="0"/>
              <a:t>Our team will be analyzing data on missed trash pickups for the city of Nashville and applying three different formulas for fines to calculate the impact to Nashville’s trash hauling services.</a:t>
            </a:r>
          </a:p>
          <a:p>
            <a:r>
              <a:rPr lang="en-US" dirty="0"/>
              <a:t>We will also generally summarize where misses tend to occur in the city, by both zip code and pickup route, and provide recommendations for future analysis to ensure equal access to services for all residents.</a:t>
            </a:r>
          </a:p>
        </p:txBody>
      </p:sp>
    </p:spTree>
    <p:extLst>
      <p:ext uri="{BB962C8B-B14F-4D97-AF65-F5344CB8AC3E}">
        <p14:creationId xmlns:p14="http://schemas.microsoft.com/office/powerpoint/2010/main" val="558346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6D981-1D19-87F5-00EC-6BA0F198CDB3}"/>
              </a:ext>
            </a:extLst>
          </p:cNvPr>
          <p:cNvSpPr>
            <a:spLocks noGrp="1"/>
          </p:cNvSpPr>
          <p:nvPr>
            <p:ph type="title"/>
          </p:nvPr>
        </p:nvSpPr>
        <p:spPr/>
        <p:txBody>
          <a:bodyPr/>
          <a:lstStyle/>
          <a:p>
            <a:r>
              <a:rPr lang="en-US" dirty="0"/>
              <a:t>Data Retrieval &amp; Cleaning</a:t>
            </a:r>
          </a:p>
        </p:txBody>
      </p:sp>
      <p:sp>
        <p:nvSpPr>
          <p:cNvPr id="3" name="Content Placeholder 2">
            <a:extLst>
              <a:ext uri="{FF2B5EF4-FFF2-40B4-BE49-F238E27FC236}">
                <a16:creationId xmlns:a16="http://schemas.microsoft.com/office/drawing/2014/main" id="{D47DAC94-E07C-D054-AA8A-DA02008A3AE1}"/>
              </a:ext>
            </a:extLst>
          </p:cNvPr>
          <p:cNvSpPr>
            <a:spLocks noGrp="1"/>
          </p:cNvSpPr>
          <p:nvPr>
            <p:ph idx="1"/>
          </p:nvPr>
        </p:nvSpPr>
        <p:spPr/>
        <p:txBody>
          <a:bodyPr>
            <a:normAutofit/>
          </a:bodyPr>
          <a:lstStyle/>
          <a:p>
            <a:r>
              <a:rPr lang="en-US" dirty="0"/>
              <a:t>Data on missed trash pickups from November 2017 through October 2019 was collected via </a:t>
            </a:r>
            <a:r>
              <a:rPr lang="en-US" dirty="0">
                <a:hlinkClick r:id="rId2"/>
              </a:rPr>
              <a:t>hubNashville</a:t>
            </a:r>
            <a:r>
              <a:rPr lang="en-US" dirty="0"/>
              <a:t> from customer complaints about trash services.</a:t>
            </a:r>
          </a:p>
          <a:p>
            <a:r>
              <a:rPr lang="en-US" dirty="0"/>
              <a:t>Data was filtered for relevancy by looking for “missed pickups”, “[trash] not picked up”, and similar patterns.</a:t>
            </a:r>
          </a:p>
          <a:p>
            <a:r>
              <a:rPr lang="en-US" dirty="0"/>
              <a:t>Street addresses were extracted and normalized to identify the street and building number.</a:t>
            </a:r>
          </a:p>
          <a:p>
            <a:pPr lvl="1"/>
            <a:r>
              <a:rPr lang="en-US" dirty="0"/>
              <a:t>Complaints submitted on behalf of an entire street made up less than 1% of the data and were discarded for consistent analysis.</a:t>
            </a:r>
          </a:p>
          <a:p>
            <a:pPr lvl="1"/>
            <a:r>
              <a:rPr lang="en-US" dirty="0"/>
              <a:t>Complaints with no address associated were less than 0.25% of data and were also discarded.</a:t>
            </a:r>
          </a:p>
          <a:p>
            <a:r>
              <a:rPr lang="en-US" dirty="0"/>
              <a:t>Duplicate requests for the same address on the same day were also discarded.</a:t>
            </a:r>
          </a:p>
        </p:txBody>
      </p:sp>
    </p:spTree>
    <p:extLst>
      <p:ext uri="{BB962C8B-B14F-4D97-AF65-F5344CB8AC3E}">
        <p14:creationId xmlns:p14="http://schemas.microsoft.com/office/powerpoint/2010/main" val="3591909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graph of different colored squares&#10;&#10;AI-generated content may be incorrect.">
            <a:extLst>
              <a:ext uri="{FF2B5EF4-FFF2-40B4-BE49-F238E27FC236}">
                <a16:creationId xmlns:a16="http://schemas.microsoft.com/office/drawing/2014/main" id="{039B7ADF-150A-CDA9-2443-2879C15F1F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19370" y="1923259"/>
            <a:ext cx="4028096" cy="4351339"/>
          </a:xfrm>
          <a:prstGeom prst="rect">
            <a:avLst/>
          </a:prstGeom>
        </p:spPr>
      </p:pic>
      <p:sp>
        <p:nvSpPr>
          <p:cNvPr id="2" name="Title 1">
            <a:extLst>
              <a:ext uri="{FF2B5EF4-FFF2-40B4-BE49-F238E27FC236}">
                <a16:creationId xmlns:a16="http://schemas.microsoft.com/office/drawing/2014/main" id="{4A95F0A0-D2F1-392E-9DF1-6768C9FBA44A}"/>
              </a:ext>
            </a:extLst>
          </p:cNvPr>
          <p:cNvSpPr>
            <a:spLocks noGrp="1"/>
          </p:cNvSpPr>
          <p:nvPr>
            <p:ph type="title"/>
          </p:nvPr>
        </p:nvSpPr>
        <p:spPr/>
        <p:txBody>
          <a:bodyPr/>
          <a:lstStyle/>
          <a:p>
            <a:r>
              <a:rPr lang="en-US" dirty="0"/>
              <a:t>Damages for Chronic Missed Pickups</a:t>
            </a:r>
          </a:p>
        </p:txBody>
      </p:sp>
      <p:sp>
        <p:nvSpPr>
          <p:cNvPr id="3" name="Content Placeholder 2">
            <a:extLst>
              <a:ext uri="{FF2B5EF4-FFF2-40B4-BE49-F238E27FC236}">
                <a16:creationId xmlns:a16="http://schemas.microsoft.com/office/drawing/2014/main" id="{A1DC5D51-B224-2EF6-73A4-50D45618173A}"/>
              </a:ext>
            </a:extLst>
          </p:cNvPr>
          <p:cNvSpPr>
            <a:spLocks noGrp="1"/>
          </p:cNvSpPr>
          <p:nvPr>
            <p:ph idx="1"/>
          </p:nvPr>
        </p:nvSpPr>
        <p:spPr>
          <a:xfrm>
            <a:off x="838200" y="1825625"/>
            <a:ext cx="6292273" cy="4351338"/>
          </a:xfrm>
        </p:spPr>
        <p:txBody>
          <a:bodyPr/>
          <a:lstStyle/>
          <a:p>
            <a:r>
              <a:rPr lang="en-US" dirty="0"/>
              <a:t>If charged a $200 fine for every missed pickup at an address after the first, Red River Waste Solutions would owe over $850,000.</a:t>
            </a:r>
          </a:p>
          <a:p>
            <a:r>
              <a:rPr lang="en-US" dirty="0"/>
              <a:t>Additionally, around $13,000 could potentially be available to the city if the complaint tracking system more thoroughly identified the haulers responsible for pickups at the caller’s address.</a:t>
            </a:r>
          </a:p>
        </p:txBody>
      </p:sp>
    </p:spTree>
    <p:extLst>
      <p:ext uri="{BB962C8B-B14F-4D97-AF65-F5344CB8AC3E}">
        <p14:creationId xmlns:p14="http://schemas.microsoft.com/office/powerpoint/2010/main" val="19891614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4895D-7299-1013-01CE-EBF1829C73E7}"/>
              </a:ext>
            </a:extLst>
          </p:cNvPr>
          <p:cNvSpPr>
            <a:spLocks noGrp="1"/>
          </p:cNvSpPr>
          <p:nvPr>
            <p:ph type="title"/>
          </p:nvPr>
        </p:nvSpPr>
        <p:spPr/>
        <p:txBody>
          <a:bodyPr/>
          <a:lstStyle/>
          <a:p>
            <a:r>
              <a:rPr lang="en-US" dirty="0"/>
              <a:t>Other Fine Structures</a:t>
            </a:r>
          </a:p>
        </p:txBody>
      </p:sp>
      <p:sp>
        <p:nvSpPr>
          <p:cNvPr id="3" name="Content Placeholder 2">
            <a:extLst>
              <a:ext uri="{FF2B5EF4-FFF2-40B4-BE49-F238E27FC236}">
                <a16:creationId xmlns:a16="http://schemas.microsoft.com/office/drawing/2014/main" id="{AAB85237-D732-FB4E-B90A-F96919A33E7F}"/>
              </a:ext>
            </a:extLst>
          </p:cNvPr>
          <p:cNvSpPr>
            <a:spLocks noGrp="1"/>
          </p:cNvSpPr>
          <p:nvPr>
            <p:ph idx="1"/>
          </p:nvPr>
        </p:nvSpPr>
        <p:spPr>
          <a:xfrm>
            <a:off x="7006359" y="1834186"/>
            <a:ext cx="4786745" cy="4351338"/>
          </a:xfrm>
        </p:spPr>
        <p:txBody>
          <a:bodyPr>
            <a:normAutofit/>
          </a:bodyPr>
          <a:lstStyle/>
          <a:p>
            <a:r>
              <a:rPr lang="en-US" b="1" dirty="0"/>
              <a:t>Alternative method 1</a:t>
            </a:r>
            <a:r>
              <a:rPr lang="en-US" dirty="0"/>
              <a:t> would nearly double the fine amount each company pays compared to the initial method, while </a:t>
            </a:r>
            <a:r>
              <a:rPr lang="en-US" b="1" dirty="0"/>
              <a:t>alternative method 2</a:t>
            </a:r>
            <a:r>
              <a:rPr lang="en-US" dirty="0"/>
              <a:t> would be slightly lower for each.</a:t>
            </a:r>
            <a:endParaRPr lang="en-US" sz="1400" dirty="0"/>
          </a:p>
          <a:p>
            <a:r>
              <a:rPr lang="en-US" sz="1200" b="1" dirty="0">
                <a:solidFill>
                  <a:schemeClr val="bg2">
                    <a:lumMod val="50000"/>
                  </a:schemeClr>
                </a:solidFill>
              </a:rPr>
              <a:t>Alternative 1: </a:t>
            </a:r>
            <a:r>
              <a:rPr lang="en-US" sz="1200" dirty="0">
                <a:solidFill>
                  <a:schemeClr val="bg2">
                    <a:lumMod val="50000"/>
                  </a:schemeClr>
                </a:solidFill>
              </a:rPr>
              <a:t>$1,500 for every combination of three missed pickups at a single address within 180 days.</a:t>
            </a:r>
          </a:p>
          <a:p>
            <a:r>
              <a:rPr lang="en-US" sz="1200" b="1" dirty="0">
                <a:solidFill>
                  <a:schemeClr val="bg2">
                    <a:lumMod val="50000"/>
                  </a:schemeClr>
                </a:solidFill>
              </a:rPr>
              <a:t>Alternative 2:</a:t>
            </a:r>
            <a:r>
              <a:rPr lang="en-US" sz="1200" dirty="0">
                <a:solidFill>
                  <a:schemeClr val="bg2">
                    <a:lumMod val="50000"/>
                  </a:schemeClr>
                </a:solidFill>
              </a:rPr>
              <a:t> $1,500 for each three missed pickups at an address within 180 days.</a:t>
            </a:r>
            <a:endParaRPr lang="en-US" sz="1200" b="1" dirty="0">
              <a:solidFill>
                <a:schemeClr val="bg2">
                  <a:lumMod val="50000"/>
                </a:schemeClr>
              </a:solidFill>
            </a:endParaRPr>
          </a:p>
        </p:txBody>
      </p:sp>
      <p:pic>
        <p:nvPicPr>
          <p:cNvPr id="6" name="Picture 5" descr="A graph of different types of methods&#10;&#10;AI-generated content may be incorrect.">
            <a:extLst>
              <a:ext uri="{FF2B5EF4-FFF2-40B4-BE49-F238E27FC236}">
                <a16:creationId xmlns:a16="http://schemas.microsoft.com/office/drawing/2014/main" id="{4F5D54C5-DE6B-2B0A-4204-D401AA14CD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196" y="1834186"/>
            <a:ext cx="6097154" cy="4223727"/>
          </a:xfrm>
          <a:prstGeom prst="rect">
            <a:avLst/>
          </a:prstGeom>
        </p:spPr>
      </p:pic>
    </p:spTree>
    <p:extLst>
      <p:ext uri="{BB962C8B-B14F-4D97-AF65-F5344CB8AC3E}">
        <p14:creationId xmlns:p14="http://schemas.microsoft.com/office/powerpoint/2010/main" val="16527460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graph of a number of objects&#10;&#10;AI-generated content may be incorrect.">
            <a:extLst>
              <a:ext uri="{FF2B5EF4-FFF2-40B4-BE49-F238E27FC236}">
                <a16:creationId xmlns:a16="http://schemas.microsoft.com/office/drawing/2014/main" id="{49DBEC57-9DD0-D533-684D-678CE30E28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30117" y="1825625"/>
            <a:ext cx="3948196" cy="4511041"/>
          </a:xfrm>
          <a:prstGeom prst="rect">
            <a:avLst/>
          </a:prstGeom>
        </p:spPr>
      </p:pic>
      <p:sp>
        <p:nvSpPr>
          <p:cNvPr id="2" name="Title 1">
            <a:extLst>
              <a:ext uri="{FF2B5EF4-FFF2-40B4-BE49-F238E27FC236}">
                <a16:creationId xmlns:a16="http://schemas.microsoft.com/office/drawing/2014/main" id="{F0C4EF74-236B-DC58-FF84-B075B83779F7}"/>
              </a:ext>
            </a:extLst>
          </p:cNvPr>
          <p:cNvSpPr>
            <a:spLocks noGrp="1"/>
          </p:cNvSpPr>
          <p:nvPr>
            <p:ph type="title"/>
          </p:nvPr>
        </p:nvSpPr>
        <p:spPr>
          <a:xfrm>
            <a:off x="1097280" y="286603"/>
            <a:ext cx="10726420" cy="1450757"/>
          </a:xfrm>
        </p:spPr>
        <p:txBody>
          <a:bodyPr/>
          <a:lstStyle/>
          <a:p>
            <a:r>
              <a:rPr lang="en-US" dirty="0"/>
              <a:t>How do metro crews compare to Red River?</a:t>
            </a:r>
          </a:p>
        </p:txBody>
      </p:sp>
      <p:sp>
        <p:nvSpPr>
          <p:cNvPr id="3" name="Content Placeholder 2">
            <a:extLst>
              <a:ext uri="{FF2B5EF4-FFF2-40B4-BE49-F238E27FC236}">
                <a16:creationId xmlns:a16="http://schemas.microsoft.com/office/drawing/2014/main" id="{3464F8E4-33F6-B6AB-F6A6-0B85F8123855}"/>
              </a:ext>
            </a:extLst>
          </p:cNvPr>
          <p:cNvSpPr>
            <a:spLocks noGrp="1"/>
          </p:cNvSpPr>
          <p:nvPr>
            <p:ph idx="1"/>
          </p:nvPr>
        </p:nvSpPr>
        <p:spPr>
          <a:xfrm>
            <a:off x="838200" y="1825625"/>
            <a:ext cx="7093017" cy="4351338"/>
          </a:xfrm>
        </p:spPr>
        <p:txBody>
          <a:bodyPr/>
          <a:lstStyle/>
          <a:p>
            <a:r>
              <a:rPr lang="en-US" dirty="0"/>
              <a:t>While metro crews missed only ¼ of the number of pickups that Red River did, without knowing the total number of locations that each crew was responsible for we can’t compare their </a:t>
            </a:r>
            <a:r>
              <a:rPr lang="en-US" i="1" dirty="0"/>
              <a:t>rates</a:t>
            </a:r>
            <a:r>
              <a:rPr lang="en-US" dirty="0"/>
              <a:t> of misses.  </a:t>
            </a:r>
          </a:p>
          <a:p>
            <a:r>
              <a:rPr lang="en-US" dirty="0"/>
              <a:t>Additionally, other factors related to the locations that each crew covers may impact those rates independent of the company itself.</a:t>
            </a:r>
          </a:p>
          <a:p>
            <a:pPr marL="0" indent="0">
              <a:buNone/>
            </a:pPr>
            <a:endParaRPr lang="en-US" dirty="0"/>
          </a:p>
        </p:txBody>
      </p:sp>
    </p:spTree>
    <p:extLst>
      <p:ext uri="{BB962C8B-B14F-4D97-AF65-F5344CB8AC3E}">
        <p14:creationId xmlns:p14="http://schemas.microsoft.com/office/powerpoint/2010/main" val="37804073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9EEB6-2F6A-9750-55F0-8D6D5DADEDBC}"/>
              </a:ext>
            </a:extLst>
          </p:cNvPr>
          <p:cNvSpPr>
            <a:spLocks noGrp="1"/>
          </p:cNvSpPr>
          <p:nvPr>
            <p:ph type="title"/>
          </p:nvPr>
        </p:nvSpPr>
        <p:spPr/>
        <p:txBody>
          <a:bodyPr/>
          <a:lstStyle/>
          <a:p>
            <a:r>
              <a:rPr lang="en-US" dirty="0"/>
              <a:t>Frequently Missed Locations</a:t>
            </a:r>
          </a:p>
        </p:txBody>
      </p:sp>
      <p:sp>
        <p:nvSpPr>
          <p:cNvPr id="12" name="Content Placeholder 11">
            <a:extLst>
              <a:ext uri="{FF2B5EF4-FFF2-40B4-BE49-F238E27FC236}">
                <a16:creationId xmlns:a16="http://schemas.microsoft.com/office/drawing/2014/main" id="{1A3C3846-FE00-1FD9-B4A7-E53C1008A71C}"/>
              </a:ext>
            </a:extLst>
          </p:cNvPr>
          <p:cNvSpPr>
            <a:spLocks noGrp="1"/>
          </p:cNvSpPr>
          <p:nvPr>
            <p:ph sz="half" idx="1"/>
          </p:nvPr>
        </p:nvSpPr>
        <p:spPr>
          <a:xfrm>
            <a:off x="838201" y="5054599"/>
            <a:ext cx="5181600" cy="1325564"/>
          </a:xfrm>
        </p:spPr>
        <p:txBody>
          <a:bodyPr>
            <a:normAutofit/>
          </a:bodyPr>
          <a:lstStyle/>
          <a:p>
            <a:r>
              <a:rPr lang="en-US" dirty="0"/>
              <a:t>While most addresses report missed pickups less than three times, the top-missed addresses have reported missed pickups on over </a:t>
            </a:r>
            <a:r>
              <a:rPr lang="en-US" b="1" dirty="0"/>
              <a:t>20</a:t>
            </a:r>
            <a:r>
              <a:rPr lang="en-US" dirty="0"/>
              <a:t> different dates!</a:t>
            </a:r>
          </a:p>
        </p:txBody>
      </p:sp>
      <p:sp>
        <p:nvSpPr>
          <p:cNvPr id="10" name="Content Placeholder 9">
            <a:extLst>
              <a:ext uri="{FF2B5EF4-FFF2-40B4-BE49-F238E27FC236}">
                <a16:creationId xmlns:a16="http://schemas.microsoft.com/office/drawing/2014/main" id="{FFF86EDB-2FF2-CDCF-C8DB-632CECCB7820}"/>
              </a:ext>
            </a:extLst>
          </p:cNvPr>
          <p:cNvSpPr>
            <a:spLocks noGrp="1"/>
          </p:cNvSpPr>
          <p:nvPr>
            <p:ph sz="half" idx="2"/>
          </p:nvPr>
        </p:nvSpPr>
        <p:spPr>
          <a:xfrm>
            <a:off x="6172200" y="3826165"/>
            <a:ext cx="5181600" cy="1891216"/>
          </a:xfrm>
        </p:spPr>
        <p:txBody>
          <a:bodyPr>
            <a:normAutofit/>
          </a:bodyPr>
          <a:lstStyle/>
          <a:p>
            <a:r>
              <a:rPr lang="en-US" dirty="0"/>
              <a:t>Old Hickory Blvd is the street with the most missed pickups – over </a:t>
            </a:r>
            <a:r>
              <a:rPr lang="en-US" b="1" dirty="0"/>
              <a:t>one hundred</a:t>
            </a:r>
            <a:r>
              <a:rPr lang="en-US" dirty="0"/>
              <a:t> – as well as being the location of the building with the third most misses reported.</a:t>
            </a:r>
          </a:p>
        </p:txBody>
      </p:sp>
      <p:graphicFrame>
        <p:nvGraphicFramePr>
          <p:cNvPr id="8" name="Content Placeholder 6">
            <a:extLst>
              <a:ext uri="{FF2B5EF4-FFF2-40B4-BE49-F238E27FC236}">
                <a16:creationId xmlns:a16="http://schemas.microsoft.com/office/drawing/2014/main" id="{FF43B930-BED1-1591-2230-212D393F1DAE}"/>
              </a:ext>
            </a:extLst>
          </p:cNvPr>
          <p:cNvGraphicFramePr>
            <a:graphicFrameLocks/>
          </p:cNvGraphicFramePr>
          <p:nvPr>
            <p:extLst>
              <p:ext uri="{D42A27DB-BD31-4B8C-83A1-F6EECF244321}">
                <p14:modId xmlns:p14="http://schemas.microsoft.com/office/powerpoint/2010/main" val="3222103550"/>
              </p:ext>
            </p:extLst>
          </p:nvPr>
        </p:nvGraphicFramePr>
        <p:xfrm>
          <a:off x="6172200" y="2084243"/>
          <a:ext cx="5181600" cy="1603375"/>
        </p:xfrm>
        <a:graphic>
          <a:graphicData uri="http://schemas.openxmlformats.org/drawingml/2006/table">
            <a:tbl>
              <a:tblPr>
                <a:tableStyleId>{21E4AEA4-8DFA-4A89-87EB-49C32662AFE0}</a:tableStyleId>
              </a:tblPr>
              <a:tblGrid>
                <a:gridCol w="2590800">
                  <a:extLst>
                    <a:ext uri="{9D8B030D-6E8A-4147-A177-3AD203B41FA5}">
                      <a16:colId xmlns:a16="http://schemas.microsoft.com/office/drawing/2014/main" val="1079851969"/>
                    </a:ext>
                  </a:extLst>
                </a:gridCol>
                <a:gridCol w="2590800">
                  <a:extLst>
                    <a:ext uri="{9D8B030D-6E8A-4147-A177-3AD203B41FA5}">
                      <a16:colId xmlns:a16="http://schemas.microsoft.com/office/drawing/2014/main" val="275346561"/>
                    </a:ext>
                  </a:extLst>
                </a:gridCol>
              </a:tblGrid>
              <a:tr h="332563">
                <a:tc>
                  <a:txBody>
                    <a:bodyPr/>
                    <a:lstStyle/>
                    <a:p>
                      <a:pPr>
                        <a:buNone/>
                      </a:pPr>
                      <a:r>
                        <a:rPr lang="en-US" sz="1100" b="1" dirty="0"/>
                        <a:t>Street</a:t>
                      </a:r>
                    </a:p>
                  </a:txBody>
                  <a:tcPr marL="45057" marR="45057" marT="22529" marB="22529" anchor="ctr"/>
                </a:tc>
                <a:tc>
                  <a:txBody>
                    <a:bodyPr/>
                    <a:lstStyle/>
                    <a:p>
                      <a:r>
                        <a:rPr lang="en-US" sz="1100" b="1" dirty="0"/>
                        <a:t>Missed Pickups</a:t>
                      </a:r>
                    </a:p>
                  </a:txBody>
                  <a:tcPr marL="45057" marR="45057" marT="22529" marB="22529" anchor="ctr"/>
                </a:tc>
                <a:extLst>
                  <a:ext uri="{0D108BD9-81ED-4DB2-BD59-A6C34878D82A}">
                    <a16:rowId xmlns:a16="http://schemas.microsoft.com/office/drawing/2014/main" val="2834163256"/>
                  </a:ext>
                </a:extLst>
              </a:tr>
              <a:tr h="220906">
                <a:tc>
                  <a:txBody>
                    <a:bodyPr/>
                    <a:lstStyle/>
                    <a:p>
                      <a:pPr>
                        <a:buNone/>
                      </a:pPr>
                      <a:r>
                        <a:rPr lang="nb-NO" sz="1100" dirty="0"/>
                        <a:t>Old Hickory Blvd</a:t>
                      </a:r>
                    </a:p>
                  </a:txBody>
                  <a:tcPr marL="45057" marR="45057" marT="22529" marB="22529" anchor="ctr">
                    <a:solidFill>
                      <a:schemeClr val="bg1">
                        <a:lumMod val="95000"/>
                      </a:schemeClr>
                    </a:solidFill>
                  </a:tcPr>
                </a:tc>
                <a:tc>
                  <a:txBody>
                    <a:bodyPr/>
                    <a:lstStyle/>
                    <a:p>
                      <a:pPr>
                        <a:buNone/>
                      </a:pPr>
                      <a:r>
                        <a:rPr lang="en-US" sz="1100" dirty="0"/>
                        <a:t>103</a:t>
                      </a:r>
                    </a:p>
                  </a:txBody>
                  <a:tcPr marL="45057" marR="45057" marT="22529" marB="22529" anchor="ctr">
                    <a:solidFill>
                      <a:schemeClr val="bg1">
                        <a:lumMod val="95000"/>
                      </a:schemeClr>
                    </a:solidFill>
                  </a:tcPr>
                </a:tc>
                <a:extLst>
                  <a:ext uri="{0D108BD9-81ED-4DB2-BD59-A6C34878D82A}">
                    <a16:rowId xmlns:a16="http://schemas.microsoft.com/office/drawing/2014/main" val="1848436159"/>
                  </a:ext>
                </a:extLst>
              </a:tr>
              <a:tr h="387188">
                <a:tc>
                  <a:txBody>
                    <a:bodyPr/>
                    <a:lstStyle/>
                    <a:p>
                      <a:pPr>
                        <a:buNone/>
                      </a:pPr>
                      <a:r>
                        <a:rPr lang="en-US" sz="1100" dirty="0"/>
                        <a:t>Buena Vista Pike</a:t>
                      </a:r>
                    </a:p>
                  </a:txBody>
                  <a:tcPr marL="45057" marR="45057" marT="22529" marB="22529" anchor="ctr">
                    <a:solidFill>
                      <a:schemeClr val="bg1">
                        <a:lumMod val="95000"/>
                      </a:schemeClr>
                    </a:solidFill>
                  </a:tcPr>
                </a:tc>
                <a:tc>
                  <a:txBody>
                    <a:bodyPr/>
                    <a:lstStyle/>
                    <a:p>
                      <a:pPr>
                        <a:buNone/>
                      </a:pPr>
                      <a:r>
                        <a:rPr lang="en-US" sz="1100" dirty="0"/>
                        <a:t>92</a:t>
                      </a:r>
                    </a:p>
                  </a:txBody>
                  <a:tcPr marL="45057" marR="45057" marT="22529" marB="22529" anchor="ctr">
                    <a:solidFill>
                      <a:schemeClr val="bg1">
                        <a:lumMod val="95000"/>
                      </a:schemeClr>
                    </a:solidFill>
                  </a:tcPr>
                </a:tc>
                <a:extLst>
                  <a:ext uri="{0D108BD9-81ED-4DB2-BD59-A6C34878D82A}">
                    <a16:rowId xmlns:a16="http://schemas.microsoft.com/office/drawing/2014/main" val="605106746"/>
                  </a:ext>
                </a:extLst>
              </a:tr>
              <a:tr h="220906">
                <a:tc>
                  <a:txBody>
                    <a:bodyPr/>
                    <a:lstStyle/>
                    <a:p>
                      <a:pPr>
                        <a:buNone/>
                      </a:pPr>
                      <a:r>
                        <a:rPr lang="en-US" sz="1100" dirty="0"/>
                        <a:t>Harding Pl</a:t>
                      </a:r>
                    </a:p>
                  </a:txBody>
                  <a:tcPr marL="45057" marR="45057" marT="22529" marB="22529" anchor="ctr">
                    <a:solidFill>
                      <a:schemeClr val="bg1">
                        <a:lumMod val="95000"/>
                      </a:schemeClr>
                    </a:solidFill>
                  </a:tcPr>
                </a:tc>
                <a:tc>
                  <a:txBody>
                    <a:bodyPr/>
                    <a:lstStyle/>
                    <a:p>
                      <a:pPr>
                        <a:buNone/>
                      </a:pPr>
                      <a:r>
                        <a:rPr lang="en-US" sz="1100" dirty="0"/>
                        <a:t>89</a:t>
                      </a:r>
                    </a:p>
                  </a:txBody>
                  <a:tcPr marL="45057" marR="45057" marT="22529" marB="22529" anchor="ctr">
                    <a:solidFill>
                      <a:schemeClr val="bg1">
                        <a:lumMod val="95000"/>
                      </a:schemeClr>
                    </a:solidFill>
                  </a:tcPr>
                </a:tc>
                <a:extLst>
                  <a:ext uri="{0D108BD9-81ED-4DB2-BD59-A6C34878D82A}">
                    <a16:rowId xmlns:a16="http://schemas.microsoft.com/office/drawing/2014/main" val="2717502932"/>
                  </a:ext>
                </a:extLst>
              </a:tr>
              <a:tr h="220906">
                <a:tc>
                  <a:txBody>
                    <a:bodyPr/>
                    <a:lstStyle/>
                    <a:p>
                      <a:pPr>
                        <a:buNone/>
                      </a:pPr>
                      <a:r>
                        <a:rPr lang="en-US" sz="1100" dirty="0"/>
                        <a:t>Granny White Pike</a:t>
                      </a:r>
                    </a:p>
                  </a:txBody>
                  <a:tcPr marL="45057" marR="45057" marT="22529" marB="22529" anchor="ctr">
                    <a:solidFill>
                      <a:schemeClr val="bg1">
                        <a:lumMod val="95000"/>
                      </a:schemeClr>
                    </a:solidFill>
                  </a:tcPr>
                </a:tc>
                <a:tc>
                  <a:txBody>
                    <a:bodyPr/>
                    <a:lstStyle/>
                    <a:p>
                      <a:pPr>
                        <a:buNone/>
                      </a:pPr>
                      <a:r>
                        <a:rPr lang="en-US" sz="1100" dirty="0"/>
                        <a:t>80</a:t>
                      </a:r>
                    </a:p>
                  </a:txBody>
                  <a:tcPr marL="45057" marR="45057" marT="22529" marB="22529" anchor="ctr">
                    <a:solidFill>
                      <a:schemeClr val="bg1">
                        <a:lumMod val="95000"/>
                      </a:schemeClr>
                    </a:solidFill>
                  </a:tcPr>
                </a:tc>
                <a:extLst>
                  <a:ext uri="{0D108BD9-81ED-4DB2-BD59-A6C34878D82A}">
                    <a16:rowId xmlns:a16="http://schemas.microsoft.com/office/drawing/2014/main" val="1854458785"/>
                  </a:ext>
                </a:extLst>
              </a:tr>
              <a:tr h="220906">
                <a:tc>
                  <a:txBody>
                    <a:bodyPr/>
                    <a:lstStyle/>
                    <a:p>
                      <a:pPr>
                        <a:buNone/>
                      </a:pPr>
                      <a:r>
                        <a:rPr lang="en-US" sz="1100" dirty="0"/>
                        <a:t>Clarksville Pike</a:t>
                      </a:r>
                    </a:p>
                  </a:txBody>
                  <a:tcPr marL="45057" marR="45057" marT="22529" marB="22529" anchor="ctr">
                    <a:solidFill>
                      <a:schemeClr val="bg1">
                        <a:lumMod val="95000"/>
                      </a:schemeClr>
                    </a:solidFill>
                  </a:tcPr>
                </a:tc>
                <a:tc>
                  <a:txBody>
                    <a:bodyPr/>
                    <a:lstStyle/>
                    <a:p>
                      <a:pPr>
                        <a:buNone/>
                      </a:pPr>
                      <a:r>
                        <a:rPr lang="en-US" sz="1100" dirty="0"/>
                        <a:t>63</a:t>
                      </a:r>
                    </a:p>
                  </a:txBody>
                  <a:tcPr marL="45057" marR="45057" marT="22529" marB="22529" anchor="ctr">
                    <a:solidFill>
                      <a:schemeClr val="bg1">
                        <a:lumMod val="95000"/>
                      </a:schemeClr>
                    </a:solidFill>
                  </a:tcPr>
                </a:tc>
                <a:extLst>
                  <a:ext uri="{0D108BD9-81ED-4DB2-BD59-A6C34878D82A}">
                    <a16:rowId xmlns:a16="http://schemas.microsoft.com/office/drawing/2014/main" val="109648940"/>
                  </a:ext>
                </a:extLst>
              </a:tr>
            </a:tbl>
          </a:graphicData>
        </a:graphic>
      </p:graphicFrame>
      <p:pic>
        <p:nvPicPr>
          <p:cNvPr id="4" name="Picture 3">
            <a:extLst>
              <a:ext uri="{FF2B5EF4-FFF2-40B4-BE49-F238E27FC236}">
                <a16:creationId xmlns:a16="http://schemas.microsoft.com/office/drawing/2014/main" id="{50BA1C90-AA84-4E94-FFFA-4C2F6713D20A}"/>
              </a:ext>
            </a:extLst>
          </p:cNvPr>
          <p:cNvPicPr>
            <a:picLocks noChangeAspect="1"/>
          </p:cNvPicPr>
          <p:nvPr/>
        </p:nvPicPr>
        <p:blipFill>
          <a:blip r:embed="rId2"/>
          <a:stretch>
            <a:fillRect/>
          </a:stretch>
        </p:blipFill>
        <p:spPr>
          <a:xfrm>
            <a:off x="1529398" y="1949450"/>
            <a:ext cx="3368644" cy="3016250"/>
          </a:xfrm>
          <a:prstGeom prst="rect">
            <a:avLst/>
          </a:prstGeom>
        </p:spPr>
      </p:pic>
    </p:spTree>
    <p:extLst>
      <p:ext uri="{BB962C8B-B14F-4D97-AF65-F5344CB8AC3E}">
        <p14:creationId xmlns:p14="http://schemas.microsoft.com/office/powerpoint/2010/main" val="13002243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10FE7-F438-E3C9-47E9-14CDDD313E0C}"/>
              </a:ext>
            </a:extLst>
          </p:cNvPr>
          <p:cNvSpPr>
            <a:spLocks noGrp="1"/>
          </p:cNvSpPr>
          <p:nvPr>
            <p:ph type="title"/>
          </p:nvPr>
        </p:nvSpPr>
        <p:spPr/>
        <p:txBody>
          <a:bodyPr/>
          <a:lstStyle/>
          <a:p>
            <a:r>
              <a:rPr lang="en-US" dirty="0"/>
              <a:t>Geographic Analysis</a:t>
            </a:r>
          </a:p>
        </p:txBody>
      </p:sp>
      <p:sp>
        <p:nvSpPr>
          <p:cNvPr id="3" name="Content Placeholder 2">
            <a:extLst>
              <a:ext uri="{FF2B5EF4-FFF2-40B4-BE49-F238E27FC236}">
                <a16:creationId xmlns:a16="http://schemas.microsoft.com/office/drawing/2014/main" id="{AA977845-EAC0-5F2B-9F13-6A4E9A551A74}"/>
              </a:ext>
            </a:extLst>
          </p:cNvPr>
          <p:cNvSpPr>
            <a:spLocks noGrp="1"/>
          </p:cNvSpPr>
          <p:nvPr>
            <p:ph idx="1"/>
          </p:nvPr>
        </p:nvSpPr>
        <p:spPr>
          <a:xfrm>
            <a:off x="838200" y="5153891"/>
            <a:ext cx="10515600" cy="1338984"/>
          </a:xfrm>
        </p:spPr>
        <p:txBody>
          <a:bodyPr>
            <a:normAutofit/>
          </a:bodyPr>
          <a:lstStyle/>
          <a:p>
            <a:r>
              <a:rPr lang="en-US" dirty="0"/>
              <a:t>The highest number of missed pickups are in the southeast of the city, though addresses near downtown Nashville that report missed pickups report them more frequently than in other areas.</a:t>
            </a:r>
          </a:p>
        </p:txBody>
      </p:sp>
      <p:pic>
        <p:nvPicPr>
          <p:cNvPr id="6" name="Picture 5">
            <a:extLst>
              <a:ext uri="{FF2B5EF4-FFF2-40B4-BE49-F238E27FC236}">
                <a16:creationId xmlns:a16="http://schemas.microsoft.com/office/drawing/2014/main" id="{8E9CA6EE-C247-FEE4-5653-C7B462858DD4}"/>
              </a:ext>
            </a:extLst>
          </p:cNvPr>
          <p:cNvPicPr>
            <a:picLocks noChangeAspect="1"/>
          </p:cNvPicPr>
          <p:nvPr/>
        </p:nvPicPr>
        <p:blipFill>
          <a:blip r:embed="rId2"/>
          <a:stretch>
            <a:fillRect/>
          </a:stretch>
        </p:blipFill>
        <p:spPr>
          <a:xfrm>
            <a:off x="1444625" y="1932654"/>
            <a:ext cx="9302750" cy="2992691"/>
          </a:xfrm>
          <a:prstGeom prst="rect">
            <a:avLst/>
          </a:prstGeom>
        </p:spPr>
      </p:pic>
    </p:spTree>
    <p:extLst>
      <p:ext uri="{BB962C8B-B14F-4D97-AF65-F5344CB8AC3E}">
        <p14:creationId xmlns:p14="http://schemas.microsoft.com/office/powerpoint/2010/main" val="25720527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F00E002-74B9-64FA-999C-73E046FFD86A}"/>
              </a:ext>
            </a:extLst>
          </p:cNvPr>
          <p:cNvSpPr>
            <a:spLocks noGrp="1"/>
          </p:cNvSpPr>
          <p:nvPr>
            <p:ph type="title"/>
          </p:nvPr>
        </p:nvSpPr>
        <p:spPr/>
        <p:txBody>
          <a:bodyPr/>
          <a:lstStyle/>
          <a:p>
            <a:r>
              <a:rPr lang="en-US" dirty="0"/>
              <a:t>Trash Hauler Locations</a:t>
            </a:r>
          </a:p>
        </p:txBody>
      </p:sp>
      <p:sp>
        <p:nvSpPr>
          <p:cNvPr id="6" name="Content Placeholder 5">
            <a:extLst>
              <a:ext uri="{FF2B5EF4-FFF2-40B4-BE49-F238E27FC236}">
                <a16:creationId xmlns:a16="http://schemas.microsoft.com/office/drawing/2014/main" id="{00B73D35-EF36-10BA-0242-594B388C1CB1}"/>
              </a:ext>
            </a:extLst>
          </p:cNvPr>
          <p:cNvSpPr>
            <a:spLocks noGrp="1"/>
          </p:cNvSpPr>
          <p:nvPr>
            <p:ph idx="1"/>
          </p:nvPr>
        </p:nvSpPr>
        <p:spPr>
          <a:xfrm>
            <a:off x="838200" y="3974308"/>
            <a:ext cx="10515600" cy="2518567"/>
          </a:xfrm>
        </p:spPr>
        <p:txBody>
          <a:bodyPr>
            <a:normAutofit/>
          </a:bodyPr>
          <a:lstStyle/>
          <a:p>
            <a:r>
              <a:rPr lang="en-US" dirty="0"/>
              <a:t>Each trash hauler’s misses are focused in different areas of the city, but no trash hauler’s misses are evenly spread across their territory, possibly due to differences in population density.</a:t>
            </a:r>
          </a:p>
          <a:p>
            <a:r>
              <a:rPr lang="en-US" dirty="0"/>
              <a:t>Interestingly, complaints that do not identify a particular hauler are most concentrated in zip code 37115, which doesn’t strongly correlate to any of the identified hauling companies.</a:t>
            </a:r>
          </a:p>
        </p:txBody>
      </p:sp>
      <p:pic>
        <p:nvPicPr>
          <p:cNvPr id="7" name="Picture 6">
            <a:extLst>
              <a:ext uri="{FF2B5EF4-FFF2-40B4-BE49-F238E27FC236}">
                <a16:creationId xmlns:a16="http://schemas.microsoft.com/office/drawing/2014/main" id="{A3968BB2-E0B7-E033-3194-53963B17BFDD}"/>
              </a:ext>
            </a:extLst>
          </p:cNvPr>
          <p:cNvPicPr>
            <a:picLocks noChangeAspect="1"/>
          </p:cNvPicPr>
          <p:nvPr/>
        </p:nvPicPr>
        <p:blipFill>
          <a:blip r:embed="rId2"/>
          <a:stretch>
            <a:fillRect/>
          </a:stretch>
        </p:blipFill>
        <p:spPr>
          <a:xfrm>
            <a:off x="1493982" y="1805119"/>
            <a:ext cx="9204036" cy="2169189"/>
          </a:xfrm>
          <a:prstGeom prst="rect">
            <a:avLst/>
          </a:prstGeom>
        </p:spPr>
      </p:pic>
    </p:spTree>
    <p:extLst>
      <p:ext uri="{BB962C8B-B14F-4D97-AF65-F5344CB8AC3E}">
        <p14:creationId xmlns:p14="http://schemas.microsoft.com/office/powerpoint/2010/main" val="2849759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FDFF5-7F16-36C3-CDF5-C31DC89FCA16}"/>
              </a:ext>
            </a:extLst>
          </p:cNvPr>
          <p:cNvSpPr>
            <a:spLocks noGrp="1"/>
          </p:cNvSpPr>
          <p:nvPr>
            <p:ph type="title"/>
          </p:nvPr>
        </p:nvSpPr>
        <p:spPr/>
        <p:txBody>
          <a:bodyPr/>
          <a:lstStyle/>
          <a:p>
            <a:r>
              <a:rPr lang="en-US" dirty="0"/>
              <a:t>Conclusions</a:t>
            </a:r>
          </a:p>
        </p:txBody>
      </p:sp>
      <p:sp>
        <p:nvSpPr>
          <p:cNvPr id="3" name="Content Placeholder 2">
            <a:extLst>
              <a:ext uri="{FF2B5EF4-FFF2-40B4-BE49-F238E27FC236}">
                <a16:creationId xmlns:a16="http://schemas.microsoft.com/office/drawing/2014/main" id="{078B2F5D-014F-BDDA-ADD1-E7FC12C4B8EE}"/>
              </a:ext>
            </a:extLst>
          </p:cNvPr>
          <p:cNvSpPr>
            <a:spLocks noGrp="1"/>
          </p:cNvSpPr>
          <p:nvPr>
            <p:ph idx="1"/>
          </p:nvPr>
        </p:nvSpPr>
        <p:spPr>
          <a:xfrm>
            <a:off x="838200" y="1924049"/>
            <a:ext cx="10515600" cy="4252913"/>
          </a:xfrm>
        </p:spPr>
        <p:txBody>
          <a:bodyPr>
            <a:normAutofit/>
          </a:bodyPr>
          <a:lstStyle/>
          <a:p>
            <a:r>
              <a:rPr lang="en-US" dirty="0"/>
              <a:t>While the data provided allows us to calculate possible fines to the trash hauling company, it is difficult to make comparisons about their performance for a few reasons:</a:t>
            </a:r>
          </a:p>
          <a:p>
            <a:pPr marL="914400" lvl="1" indent="-457200">
              <a:buFont typeface="+mj-lt"/>
              <a:buAutoNum type="arabicPeriod"/>
            </a:pPr>
            <a:r>
              <a:rPr lang="en-US" dirty="0"/>
              <a:t>The data is based on complaints reported by residents and may not accurately map to actual missed pickups.</a:t>
            </a:r>
          </a:p>
          <a:p>
            <a:pPr marL="914400" lvl="1" indent="-457200">
              <a:buFont typeface="+mj-lt"/>
              <a:buAutoNum type="arabicPeriod"/>
            </a:pPr>
            <a:r>
              <a:rPr lang="en-US" dirty="0"/>
              <a:t>Incorporating information about the number of locations each route and company cover would be needed to determine the rate of missed pickups.</a:t>
            </a:r>
          </a:p>
          <a:p>
            <a:r>
              <a:rPr lang="en-US" dirty="0"/>
              <a:t>Further exploration to ensure trash services are available equitably could also look at differences in pickup rates by council districts, average income or home price for a neighborhood, or the day of week that pickup is scheduled for.</a:t>
            </a:r>
          </a:p>
          <a:p>
            <a:r>
              <a:rPr lang="en-US" dirty="0"/>
              <a:t>Finally, there may be differences within the haulers, such as salary or work culture, that impact pick-up rates, rather than details about the pick-up locations.</a:t>
            </a:r>
          </a:p>
          <a:p>
            <a:endParaRPr lang="en-US" dirty="0"/>
          </a:p>
        </p:txBody>
      </p:sp>
    </p:spTree>
    <p:extLst>
      <p:ext uri="{BB962C8B-B14F-4D97-AF65-F5344CB8AC3E}">
        <p14:creationId xmlns:p14="http://schemas.microsoft.com/office/powerpoint/2010/main" val="1396121432"/>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124</TotalTime>
  <Words>720</Words>
  <Application>Microsoft Office PowerPoint</Application>
  <PresentationFormat>Widescreen</PresentationFormat>
  <Paragraphs>48</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Calibri</vt:lpstr>
      <vt:lpstr>Calibri Light</vt:lpstr>
      <vt:lpstr>Retrospect</vt:lpstr>
      <vt:lpstr>Missed Trash Pickups in Nashville</vt:lpstr>
      <vt:lpstr>Project Goals</vt:lpstr>
      <vt:lpstr>Data Retrieval &amp; Cleaning</vt:lpstr>
      <vt:lpstr>Damages for Chronic Missed Pickups</vt:lpstr>
      <vt:lpstr>Other Fine Structures</vt:lpstr>
      <vt:lpstr>How do metro crews compare to Red River?</vt:lpstr>
      <vt:lpstr>Frequently Missed Locations</vt:lpstr>
      <vt:lpstr>Geographic Analysis</vt:lpstr>
      <vt:lpstr>Trash Hauler Locations</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Raven Edgerton</dc:creator>
  <cp:lastModifiedBy>Raven Edgerton</cp:lastModifiedBy>
  <cp:revision>6</cp:revision>
  <dcterms:created xsi:type="dcterms:W3CDTF">2025-11-21T16:32:12Z</dcterms:created>
  <dcterms:modified xsi:type="dcterms:W3CDTF">2025-12-17T16:08:47Z</dcterms:modified>
</cp:coreProperties>
</file>
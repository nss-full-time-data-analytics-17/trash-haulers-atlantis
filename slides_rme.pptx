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0" r:id="rId3"/>
    <p:sldId id="258" r:id="rId4"/>
    <p:sldId id="257" r:id="rId5"/>
    <p:sldId id="261" r:id="rId6"/>
    <p:sldId id="256" r:id="rId7"/>
    <p:sldId id="270" r:id="rId8"/>
    <p:sldId id="269" r:id="rId9"/>
    <p:sldId id="265" r:id="rId10"/>
    <p:sldId id="262" r:id="rId11"/>
    <p:sldId id="263" r:id="rId12"/>
    <p:sldId id="264"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52"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0E81EF-8D23-4BDF-B18A-BF21D576E64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35C3CF4-7B9B-4B25-B234-C3BA44DCFBA5}">
      <dgm:prSet/>
      <dgm:spPr/>
      <dgm:t>
        <a:bodyPr/>
        <a:lstStyle/>
        <a:p>
          <a:r>
            <a:rPr lang="en-US"/>
            <a:t>Our team will be analyzing data on missed trash pickups for the city of Nashville and applying three different formulas for fines to calculate the impact to Nashville’s trash hauling services.</a:t>
          </a:r>
        </a:p>
      </dgm:t>
    </dgm:pt>
    <dgm:pt modelId="{B5D1B4E9-D38A-4469-B130-3E391D05785B}" type="parTrans" cxnId="{9EB053FE-182E-4BF1-B3C0-7162A109317C}">
      <dgm:prSet/>
      <dgm:spPr/>
      <dgm:t>
        <a:bodyPr/>
        <a:lstStyle/>
        <a:p>
          <a:endParaRPr lang="en-US"/>
        </a:p>
      </dgm:t>
    </dgm:pt>
    <dgm:pt modelId="{E83B4719-EAE3-4DD6-AA8E-96B254E346F4}" type="sibTrans" cxnId="{9EB053FE-182E-4BF1-B3C0-7162A109317C}">
      <dgm:prSet/>
      <dgm:spPr/>
      <dgm:t>
        <a:bodyPr/>
        <a:lstStyle/>
        <a:p>
          <a:endParaRPr lang="en-US"/>
        </a:p>
      </dgm:t>
    </dgm:pt>
    <dgm:pt modelId="{7CA6EFCB-FC79-4D0F-81AB-30E4C5CE1CD4}">
      <dgm:prSet/>
      <dgm:spPr/>
      <dgm:t>
        <a:bodyPr/>
        <a:lstStyle/>
        <a:p>
          <a:r>
            <a:rPr lang="en-US"/>
            <a:t>We will also generally summarize where misses tend to occur in the city, by both zip code and pickup route, and provide recommendations for future analysis to ensure equal access to services for all residents.</a:t>
          </a:r>
        </a:p>
      </dgm:t>
    </dgm:pt>
    <dgm:pt modelId="{2E0CFEBC-C6B5-4D90-AE78-47CE82D6AE94}" type="parTrans" cxnId="{83BBD554-357B-47D3-8E1B-3761D688AC50}">
      <dgm:prSet/>
      <dgm:spPr/>
      <dgm:t>
        <a:bodyPr/>
        <a:lstStyle/>
        <a:p>
          <a:endParaRPr lang="en-US"/>
        </a:p>
      </dgm:t>
    </dgm:pt>
    <dgm:pt modelId="{2EA073EE-208B-4A56-9ADA-0C5C41B55C0D}" type="sibTrans" cxnId="{83BBD554-357B-47D3-8E1B-3761D688AC50}">
      <dgm:prSet/>
      <dgm:spPr/>
      <dgm:t>
        <a:bodyPr/>
        <a:lstStyle/>
        <a:p>
          <a:endParaRPr lang="en-US"/>
        </a:p>
      </dgm:t>
    </dgm:pt>
    <dgm:pt modelId="{F6AF5030-0ACD-4240-937A-557AC3D42F61}" type="pres">
      <dgm:prSet presAssocID="{4C0E81EF-8D23-4BDF-B18A-BF21D576E64B}" presName="root" presStyleCnt="0">
        <dgm:presLayoutVars>
          <dgm:dir/>
          <dgm:resizeHandles val="exact"/>
        </dgm:presLayoutVars>
      </dgm:prSet>
      <dgm:spPr/>
    </dgm:pt>
    <dgm:pt modelId="{155D380C-2EA1-47CD-956D-19637781332C}" type="pres">
      <dgm:prSet presAssocID="{335C3CF4-7B9B-4B25-B234-C3BA44DCFBA5}" presName="compNode" presStyleCnt="0"/>
      <dgm:spPr/>
    </dgm:pt>
    <dgm:pt modelId="{CE3B3118-DD38-4560-B608-2FC63F58035F}" type="pres">
      <dgm:prSet presAssocID="{335C3CF4-7B9B-4B25-B234-C3BA44DCFBA5}" presName="bgRect" presStyleLbl="bgShp" presStyleIdx="0" presStyleCnt="2"/>
      <dgm:spPr/>
    </dgm:pt>
    <dgm:pt modelId="{F8F3C925-C959-4008-89E1-1E53EC39F3FE}" type="pres">
      <dgm:prSet presAssocID="{335C3CF4-7B9B-4B25-B234-C3BA44DCFBA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dozer"/>
        </a:ext>
      </dgm:extLst>
    </dgm:pt>
    <dgm:pt modelId="{FDB2D9B7-0526-4599-9246-C63DFFB7F63D}" type="pres">
      <dgm:prSet presAssocID="{335C3CF4-7B9B-4B25-B234-C3BA44DCFBA5}" presName="spaceRect" presStyleCnt="0"/>
      <dgm:spPr/>
    </dgm:pt>
    <dgm:pt modelId="{F50ECE9A-F9F7-44C5-B97B-17A2FCFC0849}" type="pres">
      <dgm:prSet presAssocID="{335C3CF4-7B9B-4B25-B234-C3BA44DCFBA5}" presName="parTx" presStyleLbl="revTx" presStyleIdx="0" presStyleCnt="2">
        <dgm:presLayoutVars>
          <dgm:chMax val="0"/>
          <dgm:chPref val="0"/>
        </dgm:presLayoutVars>
      </dgm:prSet>
      <dgm:spPr/>
    </dgm:pt>
    <dgm:pt modelId="{C462A41F-1D43-43FD-B0CE-8E2740F9EBF9}" type="pres">
      <dgm:prSet presAssocID="{E83B4719-EAE3-4DD6-AA8E-96B254E346F4}" presName="sibTrans" presStyleCnt="0"/>
      <dgm:spPr/>
    </dgm:pt>
    <dgm:pt modelId="{61CA5258-D9E1-473F-A7E8-09487C5E04CF}" type="pres">
      <dgm:prSet presAssocID="{7CA6EFCB-FC79-4D0F-81AB-30E4C5CE1CD4}" presName="compNode" presStyleCnt="0"/>
      <dgm:spPr/>
    </dgm:pt>
    <dgm:pt modelId="{16D0E62A-C6AB-4659-97EC-C14BEBC8215F}" type="pres">
      <dgm:prSet presAssocID="{7CA6EFCB-FC79-4D0F-81AB-30E4C5CE1CD4}" presName="bgRect" presStyleLbl="bgShp" presStyleIdx="1" presStyleCnt="2"/>
      <dgm:spPr/>
    </dgm:pt>
    <dgm:pt modelId="{591BA210-DC20-43DF-8EAC-F6B36BF248D2}" type="pres">
      <dgm:prSet presAssocID="{7CA6EFCB-FC79-4D0F-81AB-30E4C5CE1CD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rker"/>
        </a:ext>
      </dgm:extLst>
    </dgm:pt>
    <dgm:pt modelId="{C56A8A8A-CE31-4E47-944F-74EAAA30DA18}" type="pres">
      <dgm:prSet presAssocID="{7CA6EFCB-FC79-4D0F-81AB-30E4C5CE1CD4}" presName="spaceRect" presStyleCnt="0"/>
      <dgm:spPr/>
    </dgm:pt>
    <dgm:pt modelId="{BC9FB74D-015E-4CD6-8CC4-199F79AB5F66}" type="pres">
      <dgm:prSet presAssocID="{7CA6EFCB-FC79-4D0F-81AB-30E4C5CE1CD4}" presName="parTx" presStyleLbl="revTx" presStyleIdx="1" presStyleCnt="2">
        <dgm:presLayoutVars>
          <dgm:chMax val="0"/>
          <dgm:chPref val="0"/>
        </dgm:presLayoutVars>
      </dgm:prSet>
      <dgm:spPr/>
    </dgm:pt>
  </dgm:ptLst>
  <dgm:cxnLst>
    <dgm:cxn modelId="{B586072D-92E0-427F-AD7B-1936FFEBC2D8}" type="presOf" srcId="{4C0E81EF-8D23-4BDF-B18A-BF21D576E64B}" destId="{F6AF5030-0ACD-4240-937A-557AC3D42F61}" srcOrd="0" destOrd="0" presId="urn:microsoft.com/office/officeart/2018/2/layout/IconVerticalSolidList"/>
    <dgm:cxn modelId="{6531664D-08C4-48FA-8AE6-319FB52E3C7A}" type="presOf" srcId="{7CA6EFCB-FC79-4D0F-81AB-30E4C5CE1CD4}" destId="{BC9FB74D-015E-4CD6-8CC4-199F79AB5F66}" srcOrd="0" destOrd="0" presId="urn:microsoft.com/office/officeart/2018/2/layout/IconVerticalSolidList"/>
    <dgm:cxn modelId="{91261150-7199-47AB-AC7C-E101A1016819}" type="presOf" srcId="{335C3CF4-7B9B-4B25-B234-C3BA44DCFBA5}" destId="{F50ECE9A-F9F7-44C5-B97B-17A2FCFC0849}" srcOrd="0" destOrd="0" presId="urn:microsoft.com/office/officeart/2018/2/layout/IconVerticalSolidList"/>
    <dgm:cxn modelId="{83BBD554-357B-47D3-8E1B-3761D688AC50}" srcId="{4C0E81EF-8D23-4BDF-B18A-BF21D576E64B}" destId="{7CA6EFCB-FC79-4D0F-81AB-30E4C5CE1CD4}" srcOrd="1" destOrd="0" parTransId="{2E0CFEBC-C6B5-4D90-AE78-47CE82D6AE94}" sibTransId="{2EA073EE-208B-4A56-9ADA-0C5C41B55C0D}"/>
    <dgm:cxn modelId="{9EB053FE-182E-4BF1-B3C0-7162A109317C}" srcId="{4C0E81EF-8D23-4BDF-B18A-BF21D576E64B}" destId="{335C3CF4-7B9B-4B25-B234-C3BA44DCFBA5}" srcOrd="0" destOrd="0" parTransId="{B5D1B4E9-D38A-4469-B130-3E391D05785B}" sibTransId="{E83B4719-EAE3-4DD6-AA8E-96B254E346F4}"/>
    <dgm:cxn modelId="{3E9A6B5E-2535-4358-A1E2-6F6D9EC035ED}" type="presParOf" srcId="{F6AF5030-0ACD-4240-937A-557AC3D42F61}" destId="{155D380C-2EA1-47CD-956D-19637781332C}" srcOrd="0" destOrd="0" presId="urn:microsoft.com/office/officeart/2018/2/layout/IconVerticalSolidList"/>
    <dgm:cxn modelId="{86E4A9E9-35B3-43FA-8630-E429A26C41D2}" type="presParOf" srcId="{155D380C-2EA1-47CD-956D-19637781332C}" destId="{CE3B3118-DD38-4560-B608-2FC63F58035F}" srcOrd="0" destOrd="0" presId="urn:microsoft.com/office/officeart/2018/2/layout/IconVerticalSolidList"/>
    <dgm:cxn modelId="{1CA2E482-4E03-4126-A5DF-A82A839EC96E}" type="presParOf" srcId="{155D380C-2EA1-47CD-956D-19637781332C}" destId="{F8F3C925-C959-4008-89E1-1E53EC39F3FE}" srcOrd="1" destOrd="0" presId="urn:microsoft.com/office/officeart/2018/2/layout/IconVerticalSolidList"/>
    <dgm:cxn modelId="{6006EA5F-7B9E-449B-9D8D-7E082EC023B8}" type="presParOf" srcId="{155D380C-2EA1-47CD-956D-19637781332C}" destId="{FDB2D9B7-0526-4599-9246-C63DFFB7F63D}" srcOrd="2" destOrd="0" presId="urn:microsoft.com/office/officeart/2018/2/layout/IconVerticalSolidList"/>
    <dgm:cxn modelId="{AC8F19BF-B72D-45FD-B7FD-431E0D52C2F5}" type="presParOf" srcId="{155D380C-2EA1-47CD-956D-19637781332C}" destId="{F50ECE9A-F9F7-44C5-B97B-17A2FCFC0849}" srcOrd="3" destOrd="0" presId="urn:microsoft.com/office/officeart/2018/2/layout/IconVerticalSolidList"/>
    <dgm:cxn modelId="{E8483B18-8DD4-4611-983A-FCBE117B20E9}" type="presParOf" srcId="{F6AF5030-0ACD-4240-937A-557AC3D42F61}" destId="{C462A41F-1D43-43FD-B0CE-8E2740F9EBF9}" srcOrd="1" destOrd="0" presId="urn:microsoft.com/office/officeart/2018/2/layout/IconVerticalSolidList"/>
    <dgm:cxn modelId="{2F9455CE-E072-4EBF-8EC9-4DC7116C7679}" type="presParOf" srcId="{F6AF5030-0ACD-4240-937A-557AC3D42F61}" destId="{61CA5258-D9E1-473F-A7E8-09487C5E04CF}" srcOrd="2" destOrd="0" presId="urn:microsoft.com/office/officeart/2018/2/layout/IconVerticalSolidList"/>
    <dgm:cxn modelId="{1FF9D8F9-BB84-40C2-8293-878AB57663F9}" type="presParOf" srcId="{61CA5258-D9E1-473F-A7E8-09487C5E04CF}" destId="{16D0E62A-C6AB-4659-97EC-C14BEBC8215F}" srcOrd="0" destOrd="0" presId="urn:microsoft.com/office/officeart/2018/2/layout/IconVerticalSolidList"/>
    <dgm:cxn modelId="{E3119649-EE48-44ED-BD5D-117E3EEB446D}" type="presParOf" srcId="{61CA5258-D9E1-473F-A7E8-09487C5E04CF}" destId="{591BA210-DC20-43DF-8EAC-F6B36BF248D2}" srcOrd="1" destOrd="0" presId="urn:microsoft.com/office/officeart/2018/2/layout/IconVerticalSolidList"/>
    <dgm:cxn modelId="{B9B5AC48-1F95-4FB9-8F6F-AD126B1C1155}" type="presParOf" srcId="{61CA5258-D9E1-473F-A7E8-09487C5E04CF}" destId="{C56A8A8A-CE31-4E47-944F-74EAAA30DA18}" srcOrd="2" destOrd="0" presId="urn:microsoft.com/office/officeart/2018/2/layout/IconVerticalSolidList"/>
    <dgm:cxn modelId="{A305FA0B-FA40-4815-942B-DB311B74D688}" type="presParOf" srcId="{61CA5258-D9E1-473F-A7E8-09487C5E04CF}" destId="{BC9FB74D-015E-4CD6-8CC4-199F79AB5F6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DD5479-DCCC-4893-AF17-93C524EC4BF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D728C0C-2B52-490D-8A71-4549992D01CB}">
      <dgm:prSet/>
      <dgm:spPr/>
      <dgm:t>
        <a:bodyPr/>
        <a:lstStyle/>
        <a:p>
          <a:r>
            <a:rPr lang="en-US"/>
            <a:t>While the data provided allows us to calculate possible fines to the trash hauling company, it is difficult to make comparisons about their performance for a few reasons:</a:t>
          </a:r>
        </a:p>
      </dgm:t>
    </dgm:pt>
    <dgm:pt modelId="{81C2AC87-CE50-4FE2-B95D-3A59EF8DDB19}" type="parTrans" cxnId="{D88AE91C-1ADC-442D-8C82-91EC9798487A}">
      <dgm:prSet/>
      <dgm:spPr/>
      <dgm:t>
        <a:bodyPr/>
        <a:lstStyle/>
        <a:p>
          <a:endParaRPr lang="en-US"/>
        </a:p>
      </dgm:t>
    </dgm:pt>
    <dgm:pt modelId="{BD14874B-E305-4AF7-9670-E1B1D5834F91}" type="sibTrans" cxnId="{D88AE91C-1ADC-442D-8C82-91EC9798487A}">
      <dgm:prSet/>
      <dgm:spPr/>
      <dgm:t>
        <a:bodyPr/>
        <a:lstStyle/>
        <a:p>
          <a:endParaRPr lang="en-US"/>
        </a:p>
      </dgm:t>
    </dgm:pt>
    <dgm:pt modelId="{B886D65D-9FF8-48D3-9E56-F6476D3E2D5C}">
      <dgm:prSet/>
      <dgm:spPr/>
      <dgm:t>
        <a:bodyPr/>
        <a:lstStyle/>
        <a:p>
          <a:r>
            <a:rPr lang="en-US"/>
            <a:t>The data is based on complaints reported by residents and may not accurately map to actual missed pickups.</a:t>
          </a:r>
        </a:p>
      </dgm:t>
    </dgm:pt>
    <dgm:pt modelId="{37F39345-22DA-4A24-AC49-1AAE022BD07F}" type="parTrans" cxnId="{3FF61D19-22BF-40F8-AE4A-C318C30C41DF}">
      <dgm:prSet/>
      <dgm:spPr/>
      <dgm:t>
        <a:bodyPr/>
        <a:lstStyle/>
        <a:p>
          <a:endParaRPr lang="en-US"/>
        </a:p>
      </dgm:t>
    </dgm:pt>
    <dgm:pt modelId="{2B7C8509-789C-4406-818F-B92B69FBF810}" type="sibTrans" cxnId="{3FF61D19-22BF-40F8-AE4A-C318C30C41DF}">
      <dgm:prSet/>
      <dgm:spPr/>
      <dgm:t>
        <a:bodyPr/>
        <a:lstStyle/>
        <a:p>
          <a:endParaRPr lang="en-US"/>
        </a:p>
      </dgm:t>
    </dgm:pt>
    <dgm:pt modelId="{3986CD8F-6ADE-446E-8B85-037AF8CF1825}">
      <dgm:prSet/>
      <dgm:spPr/>
      <dgm:t>
        <a:bodyPr/>
        <a:lstStyle/>
        <a:p>
          <a:r>
            <a:rPr lang="en-US"/>
            <a:t>Incorporating information about the number of locations each route and company cover would be needed to determine the rate of missed pickups.</a:t>
          </a:r>
        </a:p>
      </dgm:t>
    </dgm:pt>
    <dgm:pt modelId="{1DE36BEF-015A-4EDD-AEB6-FF352523EEA7}" type="parTrans" cxnId="{F26AA4F2-3F27-42E7-8770-E7862F4EAA02}">
      <dgm:prSet/>
      <dgm:spPr/>
      <dgm:t>
        <a:bodyPr/>
        <a:lstStyle/>
        <a:p>
          <a:endParaRPr lang="en-US"/>
        </a:p>
      </dgm:t>
    </dgm:pt>
    <dgm:pt modelId="{3A260266-DA26-4D71-93D1-9975CC999777}" type="sibTrans" cxnId="{F26AA4F2-3F27-42E7-8770-E7862F4EAA02}">
      <dgm:prSet/>
      <dgm:spPr/>
      <dgm:t>
        <a:bodyPr/>
        <a:lstStyle/>
        <a:p>
          <a:endParaRPr lang="en-US"/>
        </a:p>
      </dgm:t>
    </dgm:pt>
    <dgm:pt modelId="{8E836A15-0448-4ED0-BAC9-ADE04E9C237B}">
      <dgm:prSet/>
      <dgm:spPr/>
      <dgm:t>
        <a:bodyPr/>
        <a:lstStyle/>
        <a:p>
          <a:r>
            <a:rPr lang="en-US" dirty="0"/>
            <a:t>Further exploration to ensure trash services are available equitably could also look at differences in pickup rates by council districts, average income or home price for a neighborhood, or the day of week that pickup is scheduled for.</a:t>
          </a:r>
        </a:p>
      </dgm:t>
    </dgm:pt>
    <dgm:pt modelId="{F106C93E-5224-40C6-8877-403482F45F1E}" type="parTrans" cxnId="{C3FD0646-C4C3-409A-9140-C4056FAC542D}">
      <dgm:prSet/>
      <dgm:spPr/>
      <dgm:t>
        <a:bodyPr/>
        <a:lstStyle/>
        <a:p>
          <a:endParaRPr lang="en-US"/>
        </a:p>
      </dgm:t>
    </dgm:pt>
    <dgm:pt modelId="{3BE91D2F-1D27-419A-BCA7-7270F32B10E8}" type="sibTrans" cxnId="{C3FD0646-C4C3-409A-9140-C4056FAC542D}">
      <dgm:prSet/>
      <dgm:spPr/>
      <dgm:t>
        <a:bodyPr/>
        <a:lstStyle/>
        <a:p>
          <a:endParaRPr lang="en-US"/>
        </a:p>
      </dgm:t>
    </dgm:pt>
    <dgm:pt modelId="{FC6E7644-B201-4235-912B-FDB709F1FF41}">
      <dgm:prSet/>
      <dgm:spPr/>
      <dgm:t>
        <a:bodyPr/>
        <a:lstStyle/>
        <a:p>
          <a:r>
            <a:rPr lang="en-US" dirty="0"/>
            <a:t>Finally, there may be differences within the haulers, such as salary or work culture, that impact pick-up rates, rather than details about the pick-up locations.</a:t>
          </a:r>
        </a:p>
      </dgm:t>
    </dgm:pt>
    <dgm:pt modelId="{4DC468D1-58A9-4A0F-A54E-B903998F70CB}" type="parTrans" cxnId="{D09E8E9C-13CF-4C7B-B63A-84178456E587}">
      <dgm:prSet/>
      <dgm:spPr/>
      <dgm:t>
        <a:bodyPr/>
        <a:lstStyle/>
        <a:p>
          <a:endParaRPr lang="en-US"/>
        </a:p>
      </dgm:t>
    </dgm:pt>
    <dgm:pt modelId="{18D00E0B-594C-4218-83D4-C996625A49FA}" type="sibTrans" cxnId="{D09E8E9C-13CF-4C7B-B63A-84178456E587}">
      <dgm:prSet/>
      <dgm:spPr/>
      <dgm:t>
        <a:bodyPr/>
        <a:lstStyle/>
        <a:p>
          <a:endParaRPr lang="en-US"/>
        </a:p>
      </dgm:t>
    </dgm:pt>
    <dgm:pt modelId="{C1185820-53B8-4C47-9066-F65F0FC05B35}" type="pres">
      <dgm:prSet presAssocID="{63DD5479-DCCC-4893-AF17-93C524EC4BFC}" presName="root" presStyleCnt="0">
        <dgm:presLayoutVars>
          <dgm:dir/>
          <dgm:resizeHandles val="exact"/>
        </dgm:presLayoutVars>
      </dgm:prSet>
      <dgm:spPr/>
    </dgm:pt>
    <dgm:pt modelId="{1A32EDBE-DF30-4576-86AA-E2C5448AD4CC}" type="pres">
      <dgm:prSet presAssocID="{CD728C0C-2B52-490D-8A71-4549992D01CB}" presName="compNode" presStyleCnt="0"/>
      <dgm:spPr/>
    </dgm:pt>
    <dgm:pt modelId="{0DFD09CE-8A93-4C00-A1D9-64EE8B5D1159}" type="pres">
      <dgm:prSet presAssocID="{CD728C0C-2B52-490D-8A71-4549992D01CB}" presName="bgRect" presStyleLbl="bgShp" presStyleIdx="0" presStyleCnt="3"/>
      <dgm:spPr/>
    </dgm:pt>
    <dgm:pt modelId="{F5CAA3F0-C333-493E-A3E0-E9EA58F9E338}" type="pres">
      <dgm:prSet presAssocID="{CD728C0C-2B52-490D-8A71-4549992D01C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dozer"/>
        </a:ext>
      </dgm:extLst>
    </dgm:pt>
    <dgm:pt modelId="{2F782F16-A327-4BBE-A3E7-5EE84ACCA64A}" type="pres">
      <dgm:prSet presAssocID="{CD728C0C-2B52-490D-8A71-4549992D01CB}" presName="spaceRect" presStyleCnt="0"/>
      <dgm:spPr/>
    </dgm:pt>
    <dgm:pt modelId="{01EDDF26-1BC1-4F14-B48A-FB027CC87462}" type="pres">
      <dgm:prSet presAssocID="{CD728C0C-2B52-490D-8A71-4549992D01CB}" presName="parTx" presStyleLbl="revTx" presStyleIdx="0" presStyleCnt="4">
        <dgm:presLayoutVars>
          <dgm:chMax val="0"/>
          <dgm:chPref val="0"/>
        </dgm:presLayoutVars>
      </dgm:prSet>
      <dgm:spPr/>
    </dgm:pt>
    <dgm:pt modelId="{1A38FE6A-A057-4468-BB8F-54E19BB389DD}" type="pres">
      <dgm:prSet presAssocID="{CD728C0C-2B52-490D-8A71-4549992D01CB}" presName="desTx" presStyleLbl="revTx" presStyleIdx="1" presStyleCnt="4">
        <dgm:presLayoutVars/>
      </dgm:prSet>
      <dgm:spPr/>
    </dgm:pt>
    <dgm:pt modelId="{4741630A-3426-40FC-B8E0-B8F7F16839B3}" type="pres">
      <dgm:prSet presAssocID="{BD14874B-E305-4AF7-9670-E1B1D5834F91}" presName="sibTrans" presStyleCnt="0"/>
      <dgm:spPr/>
    </dgm:pt>
    <dgm:pt modelId="{57BDC6DD-7DEE-4610-8F5C-F03FA6B21379}" type="pres">
      <dgm:prSet presAssocID="{8E836A15-0448-4ED0-BAC9-ADE04E9C237B}" presName="compNode" presStyleCnt="0"/>
      <dgm:spPr/>
    </dgm:pt>
    <dgm:pt modelId="{D37538B2-64F6-445D-8B4A-A6459A24EE39}" type="pres">
      <dgm:prSet presAssocID="{8E836A15-0448-4ED0-BAC9-ADE04E9C237B}" presName="bgRect" presStyleLbl="bgShp" presStyleIdx="1" presStyleCnt="3"/>
      <dgm:spPr/>
    </dgm:pt>
    <dgm:pt modelId="{D175A2C2-3A8D-4829-BE63-63E2266671B8}" type="pres">
      <dgm:prSet presAssocID="{8E836A15-0448-4ED0-BAC9-ADE04E9C237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llar"/>
        </a:ext>
      </dgm:extLst>
    </dgm:pt>
    <dgm:pt modelId="{987FEA05-5563-4469-AEDF-E9A28017BB66}" type="pres">
      <dgm:prSet presAssocID="{8E836A15-0448-4ED0-BAC9-ADE04E9C237B}" presName="spaceRect" presStyleCnt="0"/>
      <dgm:spPr/>
    </dgm:pt>
    <dgm:pt modelId="{34A7670B-1F1E-426F-9FE5-3B58A44B6E58}" type="pres">
      <dgm:prSet presAssocID="{8E836A15-0448-4ED0-BAC9-ADE04E9C237B}" presName="parTx" presStyleLbl="revTx" presStyleIdx="2" presStyleCnt="4">
        <dgm:presLayoutVars>
          <dgm:chMax val="0"/>
          <dgm:chPref val="0"/>
        </dgm:presLayoutVars>
      </dgm:prSet>
      <dgm:spPr/>
    </dgm:pt>
    <dgm:pt modelId="{AED144A4-E9A0-4FC0-97F6-63D7DC1635F3}" type="pres">
      <dgm:prSet presAssocID="{3BE91D2F-1D27-419A-BCA7-7270F32B10E8}" presName="sibTrans" presStyleCnt="0"/>
      <dgm:spPr/>
    </dgm:pt>
    <dgm:pt modelId="{36836F39-0823-4E94-B0A4-FF40F428C499}" type="pres">
      <dgm:prSet presAssocID="{FC6E7644-B201-4235-912B-FDB709F1FF41}" presName="compNode" presStyleCnt="0"/>
      <dgm:spPr/>
    </dgm:pt>
    <dgm:pt modelId="{5FFB1152-6C42-465D-93F3-05F7BEB9B531}" type="pres">
      <dgm:prSet presAssocID="{FC6E7644-B201-4235-912B-FDB709F1FF41}" presName="bgRect" presStyleLbl="bgShp" presStyleIdx="2" presStyleCnt="3"/>
      <dgm:spPr/>
    </dgm:pt>
    <dgm:pt modelId="{8216B253-C0ED-4254-B9F4-F2F171A38FD0}" type="pres">
      <dgm:prSet presAssocID="{FC6E7644-B201-4235-912B-FDB709F1FF4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ffice Worker"/>
        </a:ext>
      </dgm:extLst>
    </dgm:pt>
    <dgm:pt modelId="{159E7296-2824-4FE8-98AA-8F6DF18145C7}" type="pres">
      <dgm:prSet presAssocID="{FC6E7644-B201-4235-912B-FDB709F1FF41}" presName="spaceRect" presStyleCnt="0"/>
      <dgm:spPr/>
    </dgm:pt>
    <dgm:pt modelId="{4CB038B0-C289-4DDE-9AE5-F1DAC0D2FAB9}" type="pres">
      <dgm:prSet presAssocID="{FC6E7644-B201-4235-912B-FDB709F1FF41}" presName="parTx" presStyleLbl="revTx" presStyleIdx="3" presStyleCnt="4">
        <dgm:presLayoutVars>
          <dgm:chMax val="0"/>
          <dgm:chPref val="0"/>
        </dgm:presLayoutVars>
      </dgm:prSet>
      <dgm:spPr/>
    </dgm:pt>
  </dgm:ptLst>
  <dgm:cxnLst>
    <dgm:cxn modelId="{3FF61D19-22BF-40F8-AE4A-C318C30C41DF}" srcId="{CD728C0C-2B52-490D-8A71-4549992D01CB}" destId="{B886D65D-9FF8-48D3-9E56-F6476D3E2D5C}" srcOrd="0" destOrd="0" parTransId="{37F39345-22DA-4A24-AC49-1AAE022BD07F}" sibTransId="{2B7C8509-789C-4406-818F-B92B69FBF810}"/>
    <dgm:cxn modelId="{D88AE91C-1ADC-442D-8C82-91EC9798487A}" srcId="{63DD5479-DCCC-4893-AF17-93C524EC4BFC}" destId="{CD728C0C-2B52-490D-8A71-4549992D01CB}" srcOrd="0" destOrd="0" parTransId="{81C2AC87-CE50-4FE2-B95D-3A59EF8DDB19}" sibTransId="{BD14874B-E305-4AF7-9670-E1B1D5834F91}"/>
    <dgm:cxn modelId="{C3FD0646-C4C3-409A-9140-C4056FAC542D}" srcId="{63DD5479-DCCC-4893-AF17-93C524EC4BFC}" destId="{8E836A15-0448-4ED0-BAC9-ADE04E9C237B}" srcOrd="1" destOrd="0" parTransId="{F106C93E-5224-40C6-8877-403482F45F1E}" sibTransId="{3BE91D2F-1D27-419A-BCA7-7270F32B10E8}"/>
    <dgm:cxn modelId="{DCC5DD99-7ECD-4154-BB5A-8FB7E42EFC58}" type="presOf" srcId="{3986CD8F-6ADE-446E-8B85-037AF8CF1825}" destId="{1A38FE6A-A057-4468-BB8F-54E19BB389DD}" srcOrd="0" destOrd="1" presId="urn:microsoft.com/office/officeart/2018/2/layout/IconVerticalSolidList"/>
    <dgm:cxn modelId="{4E18639B-A03F-43C0-B129-6961F3AC54D3}" type="presOf" srcId="{CD728C0C-2B52-490D-8A71-4549992D01CB}" destId="{01EDDF26-1BC1-4F14-B48A-FB027CC87462}" srcOrd="0" destOrd="0" presId="urn:microsoft.com/office/officeart/2018/2/layout/IconVerticalSolidList"/>
    <dgm:cxn modelId="{D09E8E9C-13CF-4C7B-B63A-84178456E587}" srcId="{63DD5479-DCCC-4893-AF17-93C524EC4BFC}" destId="{FC6E7644-B201-4235-912B-FDB709F1FF41}" srcOrd="2" destOrd="0" parTransId="{4DC468D1-58A9-4A0F-A54E-B903998F70CB}" sibTransId="{18D00E0B-594C-4218-83D4-C996625A49FA}"/>
    <dgm:cxn modelId="{20EFB99C-15E7-4E61-B73E-62E21327079E}" type="presOf" srcId="{63DD5479-DCCC-4893-AF17-93C524EC4BFC}" destId="{C1185820-53B8-4C47-9066-F65F0FC05B35}" srcOrd="0" destOrd="0" presId="urn:microsoft.com/office/officeart/2018/2/layout/IconVerticalSolidList"/>
    <dgm:cxn modelId="{397802A6-61E3-4DEA-B9BC-9CEFC799A968}" type="presOf" srcId="{8E836A15-0448-4ED0-BAC9-ADE04E9C237B}" destId="{34A7670B-1F1E-426F-9FE5-3B58A44B6E58}" srcOrd="0" destOrd="0" presId="urn:microsoft.com/office/officeart/2018/2/layout/IconVerticalSolidList"/>
    <dgm:cxn modelId="{18E75FBD-ACC3-4CF7-838B-86577662A1E0}" type="presOf" srcId="{FC6E7644-B201-4235-912B-FDB709F1FF41}" destId="{4CB038B0-C289-4DDE-9AE5-F1DAC0D2FAB9}" srcOrd="0" destOrd="0" presId="urn:microsoft.com/office/officeart/2018/2/layout/IconVerticalSolidList"/>
    <dgm:cxn modelId="{6D40CDC7-9EE3-4CBA-8CB5-E794989B02A2}" type="presOf" srcId="{B886D65D-9FF8-48D3-9E56-F6476D3E2D5C}" destId="{1A38FE6A-A057-4468-BB8F-54E19BB389DD}" srcOrd="0" destOrd="0" presId="urn:microsoft.com/office/officeart/2018/2/layout/IconVerticalSolidList"/>
    <dgm:cxn modelId="{F26AA4F2-3F27-42E7-8770-E7862F4EAA02}" srcId="{CD728C0C-2B52-490D-8A71-4549992D01CB}" destId="{3986CD8F-6ADE-446E-8B85-037AF8CF1825}" srcOrd="1" destOrd="0" parTransId="{1DE36BEF-015A-4EDD-AEB6-FF352523EEA7}" sibTransId="{3A260266-DA26-4D71-93D1-9975CC999777}"/>
    <dgm:cxn modelId="{C2AF4F9C-EAFE-47E8-87E7-7C1EF33AA519}" type="presParOf" srcId="{C1185820-53B8-4C47-9066-F65F0FC05B35}" destId="{1A32EDBE-DF30-4576-86AA-E2C5448AD4CC}" srcOrd="0" destOrd="0" presId="urn:microsoft.com/office/officeart/2018/2/layout/IconVerticalSolidList"/>
    <dgm:cxn modelId="{7467F771-02C9-4F84-8EAF-285CE1D061FA}" type="presParOf" srcId="{1A32EDBE-DF30-4576-86AA-E2C5448AD4CC}" destId="{0DFD09CE-8A93-4C00-A1D9-64EE8B5D1159}" srcOrd="0" destOrd="0" presId="urn:microsoft.com/office/officeart/2018/2/layout/IconVerticalSolidList"/>
    <dgm:cxn modelId="{38A9130A-7DB2-46BB-933A-A5F89DB565CE}" type="presParOf" srcId="{1A32EDBE-DF30-4576-86AA-E2C5448AD4CC}" destId="{F5CAA3F0-C333-493E-A3E0-E9EA58F9E338}" srcOrd="1" destOrd="0" presId="urn:microsoft.com/office/officeart/2018/2/layout/IconVerticalSolidList"/>
    <dgm:cxn modelId="{0F2DED73-E225-4D33-8186-BFC20D0B2289}" type="presParOf" srcId="{1A32EDBE-DF30-4576-86AA-E2C5448AD4CC}" destId="{2F782F16-A327-4BBE-A3E7-5EE84ACCA64A}" srcOrd="2" destOrd="0" presId="urn:microsoft.com/office/officeart/2018/2/layout/IconVerticalSolidList"/>
    <dgm:cxn modelId="{579EE907-C3F4-4ABD-BF27-484E25EFB69E}" type="presParOf" srcId="{1A32EDBE-DF30-4576-86AA-E2C5448AD4CC}" destId="{01EDDF26-1BC1-4F14-B48A-FB027CC87462}" srcOrd="3" destOrd="0" presId="urn:microsoft.com/office/officeart/2018/2/layout/IconVerticalSolidList"/>
    <dgm:cxn modelId="{3E7B5FEE-CC20-48B6-9967-A27486F07969}" type="presParOf" srcId="{1A32EDBE-DF30-4576-86AA-E2C5448AD4CC}" destId="{1A38FE6A-A057-4468-BB8F-54E19BB389DD}" srcOrd="4" destOrd="0" presId="urn:microsoft.com/office/officeart/2018/2/layout/IconVerticalSolidList"/>
    <dgm:cxn modelId="{83821FE1-1E35-4355-9862-2B2CC5649ECC}" type="presParOf" srcId="{C1185820-53B8-4C47-9066-F65F0FC05B35}" destId="{4741630A-3426-40FC-B8E0-B8F7F16839B3}" srcOrd="1" destOrd="0" presId="urn:microsoft.com/office/officeart/2018/2/layout/IconVerticalSolidList"/>
    <dgm:cxn modelId="{4F10CECA-F85F-4C17-A25B-2CEF997E05F7}" type="presParOf" srcId="{C1185820-53B8-4C47-9066-F65F0FC05B35}" destId="{57BDC6DD-7DEE-4610-8F5C-F03FA6B21379}" srcOrd="2" destOrd="0" presId="urn:microsoft.com/office/officeart/2018/2/layout/IconVerticalSolidList"/>
    <dgm:cxn modelId="{C02552F2-B6E9-4974-9A15-0B28693A5B4E}" type="presParOf" srcId="{57BDC6DD-7DEE-4610-8F5C-F03FA6B21379}" destId="{D37538B2-64F6-445D-8B4A-A6459A24EE39}" srcOrd="0" destOrd="0" presId="urn:microsoft.com/office/officeart/2018/2/layout/IconVerticalSolidList"/>
    <dgm:cxn modelId="{2DCF606C-BB02-4FB1-9C17-273370DA715F}" type="presParOf" srcId="{57BDC6DD-7DEE-4610-8F5C-F03FA6B21379}" destId="{D175A2C2-3A8D-4829-BE63-63E2266671B8}" srcOrd="1" destOrd="0" presId="urn:microsoft.com/office/officeart/2018/2/layout/IconVerticalSolidList"/>
    <dgm:cxn modelId="{6FA4F2F2-48B4-494E-9104-38FA2BA94AAD}" type="presParOf" srcId="{57BDC6DD-7DEE-4610-8F5C-F03FA6B21379}" destId="{987FEA05-5563-4469-AEDF-E9A28017BB66}" srcOrd="2" destOrd="0" presId="urn:microsoft.com/office/officeart/2018/2/layout/IconVerticalSolidList"/>
    <dgm:cxn modelId="{C35B4894-2B56-427E-895C-25A87A9568E4}" type="presParOf" srcId="{57BDC6DD-7DEE-4610-8F5C-F03FA6B21379}" destId="{34A7670B-1F1E-426F-9FE5-3B58A44B6E58}" srcOrd="3" destOrd="0" presId="urn:microsoft.com/office/officeart/2018/2/layout/IconVerticalSolidList"/>
    <dgm:cxn modelId="{25C6903F-5F2F-4AA4-A040-0A503AF9E8E4}" type="presParOf" srcId="{C1185820-53B8-4C47-9066-F65F0FC05B35}" destId="{AED144A4-E9A0-4FC0-97F6-63D7DC1635F3}" srcOrd="3" destOrd="0" presId="urn:microsoft.com/office/officeart/2018/2/layout/IconVerticalSolidList"/>
    <dgm:cxn modelId="{75B15CEE-7809-421C-97B1-C9570C48D6E8}" type="presParOf" srcId="{C1185820-53B8-4C47-9066-F65F0FC05B35}" destId="{36836F39-0823-4E94-B0A4-FF40F428C499}" srcOrd="4" destOrd="0" presId="urn:microsoft.com/office/officeart/2018/2/layout/IconVerticalSolidList"/>
    <dgm:cxn modelId="{7A892837-774C-4652-9906-B4E2D8C20B1C}" type="presParOf" srcId="{36836F39-0823-4E94-B0A4-FF40F428C499}" destId="{5FFB1152-6C42-465D-93F3-05F7BEB9B531}" srcOrd="0" destOrd="0" presId="urn:microsoft.com/office/officeart/2018/2/layout/IconVerticalSolidList"/>
    <dgm:cxn modelId="{F06DF9ED-C41D-4A3D-9E38-80460FE8F85B}" type="presParOf" srcId="{36836F39-0823-4E94-B0A4-FF40F428C499}" destId="{8216B253-C0ED-4254-B9F4-F2F171A38FD0}" srcOrd="1" destOrd="0" presId="urn:microsoft.com/office/officeart/2018/2/layout/IconVerticalSolidList"/>
    <dgm:cxn modelId="{F539C680-ADC0-4822-B353-2EC71FF22957}" type="presParOf" srcId="{36836F39-0823-4E94-B0A4-FF40F428C499}" destId="{159E7296-2824-4FE8-98AA-8F6DF18145C7}" srcOrd="2" destOrd="0" presId="urn:microsoft.com/office/officeart/2018/2/layout/IconVerticalSolidList"/>
    <dgm:cxn modelId="{8B9D6699-43D9-422E-BAC6-D0C2B5634FE5}" type="presParOf" srcId="{36836F39-0823-4E94-B0A4-FF40F428C499}" destId="{4CB038B0-C289-4DDE-9AE5-F1DAC0D2FAB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3B3118-DD38-4560-B608-2FC63F58035F}">
      <dsp:nvSpPr>
        <dsp:cNvPr id="0" name=""/>
        <dsp:cNvSpPr/>
      </dsp:nvSpPr>
      <dsp:spPr>
        <a:xfrm>
          <a:off x="0" y="615237"/>
          <a:ext cx="10058399" cy="113582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F3C925-C959-4008-89E1-1E53EC39F3FE}">
      <dsp:nvSpPr>
        <dsp:cNvPr id="0" name=""/>
        <dsp:cNvSpPr/>
      </dsp:nvSpPr>
      <dsp:spPr>
        <a:xfrm>
          <a:off x="343586" y="870798"/>
          <a:ext cx="624703" cy="6247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0ECE9A-F9F7-44C5-B97B-17A2FCFC0849}">
      <dsp:nvSpPr>
        <dsp:cNvPr id="0" name=""/>
        <dsp:cNvSpPr/>
      </dsp:nvSpPr>
      <dsp:spPr>
        <a:xfrm>
          <a:off x="1311876" y="615237"/>
          <a:ext cx="8746523" cy="113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208" tIns="120208" rIns="120208" bIns="120208" numCol="1" spcCol="1270" anchor="ctr" anchorCtr="0">
          <a:noAutofit/>
        </a:bodyPr>
        <a:lstStyle/>
        <a:p>
          <a:pPr marL="0" lvl="0" indent="0" algn="l" defTabSz="933450">
            <a:lnSpc>
              <a:spcPct val="90000"/>
            </a:lnSpc>
            <a:spcBef>
              <a:spcPct val="0"/>
            </a:spcBef>
            <a:spcAft>
              <a:spcPct val="35000"/>
            </a:spcAft>
            <a:buNone/>
          </a:pPr>
          <a:r>
            <a:rPr lang="en-US" sz="2100" kern="1200"/>
            <a:t>Our team will be analyzing data on missed trash pickups for the city of Nashville and applying three different formulas for fines to calculate the impact to Nashville’s trash hauling services.</a:t>
          </a:r>
        </a:p>
      </dsp:txBody>
      <dsp:txXfrm>
        <a:off x="1311876" y="615237"/>
        <a:ext cx="8746523" cy="1135824"/>
      </dsp:txXfrm>
    </dsp:sp>
    <dsp:sp modelId="{16D0E62A-C6AB-4659-97EC-C14BEBC8215F}">
      <dsp:nvSpPr>
        <dsp:cNvPr id="0" name=""/>
        <dsp:cNvSpPr/>
      </dsp:nvSpPr>
      <dsp:spPr>
        <a:xfrm>
          <a:off x="0" y="2035018"/>
          <a:ext cx="10058399" cy="113582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1BA210-DC20-43DF-8EAC-F6B36BF248D2}">
      <dsp:nvSpPr>
        <dsp:cNvPr id="0" name=""/>
        <dsp:cNvSpPr/>
      </dsp:nvSpPr>
      <dsp:spPr>
        <a:xfrm>
          <a:off x="343586" y="2290578"/>
          <a:ext cx="624703" cy="6247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C9FB74D-015E-4CD6-8CC4-199F79AB5F66}">
      <dsp:nvSpPr>
        <dsp:cNvPr id="0" name=""/>
        <dsp:cNvSpPr/>
      </dsp:nvSpPr>
      <dsp:spPr>
        <a:xfrm>
          <a:off x="1311876" y="2035018"/>
          <a:ext cx="8746523" cy="113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208" tIns="120208" rIns="120208" bIns="120208" numCol="1" spcCol="1270" anchor="ctr" anchorCtr="0">
          <a:noAutofit/>
        </a:bodyPr>
        <a:lstStyle/>
        <a:p>
          <a:pPr marL="0" lvl="0" indent="0" algn="l" defTabSz="933450">
            <a:lnSpc>
              <a:spcPct val="90000"/>
            </a:lnSpc>
            <a:spcBef>
              <a:spcPct val="0"/>
            </a:spcBef>
            <a:spcAft>
              <a:spcPct val="35000"/>
            </a:spcAft>
            <a:buNone/>
          </a:pPr>
          <a:r>
            <a:rPr lang="en-US" sz="2100" kern="1200"/>
            <a:t>We will also generally summarize where misses tend to occur in the city, by both zip code and pickup route, and provide recommendations for future analysis to ensure equal access to services for all residents.</a:t>
          </a:r>
        </a:p>
      </dsp:txBody>
      <dsp:txXfrm>
        <a:off x="1311876" y="2035018"/>
        <a:ext cx="8746523" cy="11358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FD09CE-8A93-4C00-A1D9-64EE8B5D1159}">
      <dsp:nvSpPr>
        <dsp:cNvPr id="0" name=""/>
        <dsp:cNvSpPr/>
      </dsp:nvSpPr>
      <dsp:spPr>
        <a:xfrm>
          <a:off x="0" y="462"/>
          <a:ext cx="10058399" cy="10814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CAA3F0-C333-493E-A3E0-E9EA58F9E338}">
      <dsp:nvSpPr>
        <dsp:cNvPr id="0" name=""/>
        <dsp:cNvSpPr/>
      </dsp:nvSpPr>
      <dsp:spPr>
        <a:xfrm>
          <a:off x="327145" y="243793"/>
          <a:ext cx="594810" cy="5948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EDDF26-1BC1-4F14-B48A-FB027CC87462}">
      <dsp:nvSpPr>
        <dsp:cNvPr id="0" name=""/>
        <dsp:cNvSpPr/>
      </dsp:nvSpPr>
      <dsp:spPr>
        <a:xfrm>
          <a:off x="1249101" y="462"/>
          <a:ext cx="4526280" cy="1081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456" tIns="114456" rIns="114456" bIns="114456" numCol="1" spcCol="1270" anchor="ctr" anchorCtr="0">
          <a:noAutofit/>
        </a:bodyPr>
        <a:lstStyle/>
        <a:p>
          <a:pPr marL="0" lvl="0" indent="0" algn="l" defTabSz="666750">
            <a:lnSpc>
              <a:spcPct val="90000"/>
            </a:lnSpc>
            <a:spcBef>
              <a:spcPct val="0"/>
            </a:spcBef>
            <a:spcAft>
              <a:spcPct val="35000"/>
            </a:spcAft>
            <a:buNone/>
          </a:pPr>
          <a:r>
            <a:rPr lang="en-US" sz="1500" kern="1200"/>
            <a:t>While the data provided allows us to calculate possible fines to the trash hauling company, it is difficult to make comparisons about their performance for a few reasons:</a:t>
          </a:r>
        </a:p>
      </dsp:txBody>
      <dsp:txXfrm>
        <a:off x="1249101" y="462"/>
        <a:ext cx="4526280" cy="1081473"/>
      </dsp:txXfrm>
    </dsp:sp>
    <dsp:sp modelId="{1A38FE6A-A057-4468-BB8F-54E19BB389DD}">
      <dsp:nvSpPr>
        <dsp:cNvPr id="0" name=""/>
        <dsp:cNvSpPr/>
      </dsp:nvSpPr>
      <dsp:spPr>
        <a:xfrm>
          <a:off x="5775381" y="462"/>
          <a:ext cx="4283018" cy="1081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456" tIns="114456" rIns="114456" bIns="114456" numCol="1" spcCol="1270" anchor="ctr" anchorCtr="0">
          <a:noAutofit/>
        </a:bodyPr>
        <a:lstStyle/>
        <a:p>
          <a:pPr marL="0" lvl="0" indent="0" algn="l" defTabSz="488950">
            <a:lnSpc>
              <a:spcPct val="90000"/>
            </a:lnSpc>
            <a:spcBef>
              <a:spcPct val="0"/>
            </a:spcBef>
            <a:spcAft>
              <a:spcPct val="35000"/>
            </a:spcAft>
            <a:buNone/>
          </a:pPr>
          <a:r>
            <a:rPr lang="en-US" sz="1100" kern="1200"/>
            <a:t>The data is based on complaints reported by residents and may not accurately map to actual missed pickups.</a:t>
          </a:r>
        </a:p>
        <a:p>
          <a:pPr marL="0" lvl="0" indent="0" algn="l" defTabSz="488950">
            <a:lnSpc>
              <a:spcPct val="90000"/>
            </a:lnSpc>
            <a:spcBef>
              <a:spcPct val="0"/>
            </a:spcBef>
            <a:spcAft>
              <a:spcPct val="35000"/>
            </a:spcAft>
            <a:buNone/>
          </a:pPr>
          <a:r>
            <a:rPr lang="en-US" sz="1100" kern="1200"/>
            <a:t>Incorporating information about the number of locations each route and company cover would be needed to determine the rate of missed pickups.</a:t>
          </a:r>
        </a:p>
      </dsp:txBody>
      <dsp:txXfrm>
        <a:off x="5775381" y="462"/>
        <a:ext cx="4283018" cy="1081473"/>
      </dsp:txXfrm>
    </dsp:sp>
    <dsp:sp modelId="{D37538B2-64F6-445D-8B4A-A6459A24EE39}">
      <dsp:nvSpPr>
        <dsp:cNvPr id="0" name=""/>
        <dsp:cNvSpPr/>
      </dsp:nvSpPr>
      <dsp:spPr>
        <a:xfrm>
          <a:off x="0" y="1352303"/>
          <a:ext cx="10058399" cy="10814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75A2C2-3A8D-4829-BE63-63E2266671B8}">
      <dsp:nvSpPr>
        <dsp:cNvPr id="0" name=""/>
        <dsp:cNvSpPr/>
      </dsp:nvSpPr>
      <dsp:spPr>
        <a:xfrm>
          <a:off x="327145" y="1595634"/>
          <a:ext cx="594810" cy="5948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4A7670B-1F1E-426F-9FE5-3B58A44B6E58}">
      <dsp:nvSpPr>
        <dsp:cNvPr id="0" name=""/>
        <dsp:cNvSpPr/>
      </dsp:nvSpPr>
      <dsp:spPr>
        <a:xfrm>
          <a:off x="1249101" y="1352303"/>
          <a:ext cx="8809298" cy="1081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456" tIns="114456" rIns="114456" bIns="114456" numCol="1" spcCol="1270" anchor="ctr" anchorCtr="0">
          <a:noAutofit/>
        </a:bodyPr>
        <a:lstStyle/>
        <a:p>
          <a:pPr marL="0" lvl="0" indent="0" algn="l" defTabSz="666750">
            <a:lnSpc>
              <a:spcPct val="90000"/>
            </a:lnSpc>
            <a:spcBef>
              <a:spcPct val="0"/>
            </a:spcBef>
            <a:spcAft>
              <a:spcPct val="35000"/>
            </a:spcAft>
            <a:buNone/>
          </a:pPr>
          <a:r>
            <a:rPr lang="en-US" sz="1500" kern="1200" dirty="0"/>
            <a:t>Further exploration to ensure trash services are available equitably could also look at differences in pickup rates by council districts, average income or home price for a neighborhood, or the day of week that pickup is scheduled for.</a:t>
          </a:r>
        </a:p>
      </dsp:txBody>
      <dsp:txXfrm>
        <a:off x="1249101" y="1352303"/>
        <a:ext cx="8809298" cy="1081473"/>
      </dsp:txXfrm>
    </dsp:sp>
    <dsp:sp modelId="{5FFB1152-6C42-465D-93F3-05F7BEB9B531}">
      <dsp:nvSpPr>
        <dsp:cNvPr id="0" name=""/>
        <dsp:cNvSpPr/>
      </dsp:nvSpPr>
      <dsp:spPr>
        <a:xfrm>
          <a:off x="0" y="2704144"/>
          <a:ext cx="10058399" cy="10814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16B253-C0ED-4254-B9F4-F2F171A38FD0}">
      <dsp:nvSpPr>
        <dsp:cNvPr id="0" name=""/>
        <dsp:cNvSpPr/>
      </dsp:nvSpPr>
      <dsp:spPr>
        <a:xfrm>
          <a:off x="327145" y="2947476"/>
          <a:ext cx="594810" cy="5948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B038B0-C289-4DDE-9AE5-F1DAC0D2FAB9}">
      <dsp:nvSpPr>
        <dsp:cNvPr id="0" name=""/>
        <dsp:cNvSpPr/>
      </dsp:nvSpPr>
      <dsp:spPr>
        <a:xfrm>
          <a:off x="1249101" y="2704144"/>
          <a:ext cx="8809298" cy="1081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456" tIns="114456" rIns="114456" bIns="114456" numCol="1" spcCol="1270" anchor="ctr" anchorCtr="0">
          <a:noAutofit/>
        </a:bodyPr>
        <a:lstStyle/>
        <a:p>
          <a:pPr marL="0" lvl="0" indent="0" algn="l" defTabSz="666750">
            <a:lnSpc>
              <a:spcPct val="90000"/>
            </a:lnSpc>
            <a:spcBef>
              <a:spcPct val="0"/>
            </a:spcBef>
            <a:spcAft>
              <a:spcPct val="35000"/>
            </a:spcAft>
            <a:buNone/>
          </a:pPr>
          <a:r>
            <a:rPr lang="en-US" sz="1500" kern="1200" dirty="0"/>
            <a:t>Finally, there may be differences within the haulers, such as salary or work culture, that impact pick-up rates, rather than details about the pick-up locations.</a:t>
          </a:r>
        </a:p>
      </dsp:txBody>
      <dsp:txXfrm>
        <a:off x="1249101" y="2704144"/>
        <a:ext cx="8809298" cy="108147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839FD6-FEB9-4A4A-B5BB-6065DE1E2189}"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919B07-CB31-47D2-8B51-826E6F6670F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9756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839FD6-FEB9-4A4A-B5BB-6065DE1E2189}"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1478058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839FD6-FEB9-4A4A-B5BB-6065DE1E2189}"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919B07-CB31-47D2-8B51-826E6F6670F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1082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839FD6-FEB9-4A4A-B5BB-6065DE1E2189}"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2667284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839FD6-FEB9-4A4A-B5BB-6065DE1E2189}" type="datetimeFigureOut">
              <a:rPr lang="en-US" smtClean="0"/>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943802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839FD6-FEB9-4A4A-B5BB-6065DE1E2189}" type="datetimeFigureOut">
              <a:rPr lang="en-US" smtClean="0"/>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3723279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1839FD6-FEB9-4A4A-B5BB-6065DE1E2189}" type="datetimeFigureOut">
              <a:rPr lang="en-US" smtClean="0"/>
              <a:t>11/21/2025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800780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1839FD6-FEB9-4A4A-B5BB-6065DE1E2189}" type="datetimeFigureOut">
              <a:rPr lang="en-US" smtClean="0"/>
              <a:t>11/21/2025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E919B07-CB31-47D2-8B51-826E6F6670FF}" type="slidenum">
              <a:rPr lang="en-US" smtClean="0"/>
              <a:t>‹#›</a:t>
            </a:fld>
            <a:endParaRPr lang="en-US"/>
          </a:p>
        </p:txBody>
      </p:sp>
    </p:spTree>
    <p:extLst>
      <p:ext uri="{BB962C8B-B14F-4D97-AF65-F5344CB8AC3E}">
        <p14:creationId xmlns:p14="http://schemas.microsoft.com/office/powerpoint/2010/main" val="597669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839FD6-FEB9-4A4A-B5BB-6065DE1E2189}"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2549991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839FD6-FEB9-4A4A-B5BB-6065DE1E2189}"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124505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839FD6-FEB9-4A4A-B5BB-6065DE1E2189}"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2842321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1839FD6-FEB9-4A4A-B5BB-6065DE1E2189}" type="datetimeFigureOut">
              <a:rPr lang="en-US" smtClean="0"/>
              <a:t>11/21/2025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E919B07-CB31-47D2-8B51-826E6F6670F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94535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hyperlink" Target="https://hub.nashville.gov/"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75040-BE70-F524-AB75-FF05BB10CA8D}"/>
              </a:ext>
            </a:extLst>
          </p:cNvPr>
          <p:cNvSpPr>
            <a:spLocks noGrp="1"/>
          </p:cNvSpPr>
          <p:nvPr>
            <p:ph type="ctrTitle"/>
          </p:nvPr>
        </p:nvSpPr>
        <p:spPr/>
        <p:txBody>
          <a:bodyPr>
            <a:normAutofit/>
          </a:bodyPr>
          <a:lstStyle/>
          <a:p>
            <a:r>
              <a:rPr lang="en-US" sz="4800" dirty="0"/>
              <a:t>Missed Trash Pickups in Nashville</a:t>
            </a:r>
          </a:p>
        </p:txBody>
      </p:sp>
      <p:sp>
        <p:nvSpPr>
          <p:cNvPr id="3" name="Subtitle 2">
            <a:extLst>
              <a:ext uri="{FF2B5EF4-FFF2-40B4-BE49-F238E27FC236}">
                <a16:creationId xmlns:a16="http://schemas.microsoft.com/office/drawing/2014/main" id="{24276D7F-D267-35A4-128D-9AD740FD9F0D}"/>
              </a:ext>
            </a:extLst>
          </p:cNvPr>
          <p:cNvSpPr>
            <a:spLocks noGrp="1"/>
          </p:cNvSpPr>
          <p:nvPr>
            <p:ph type="subTitle" idx="1"/>
          </p:nvPr>
        </p:nvSpPr>
        <p:spPr/>
        <p:txBody>
          <a:bodyPr/>
          <a:lstStyle/>
          <a:p>
            <a:r>
              <a:rPr lang="en-US" dirty="0"/>
              <a:t>Team Atlantis</a:t>
            </a:r>
          </a:p>
        </p:txBody>
      </p:sp>
    </p:spTree>
    <p:extLst>
      <p:ext uri="{BB962C8B-B14F-4D97-AF65-F5344CB8AC3E}">
        <p14:creationId xmlns:p14="http://schemas.microsoft.com/office/powerpoint/2010/main" val="3963868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84CA5-1651-281E-1A66-3915CB318D2F}"/>
              </a:ext>
            </a:extLst>
          </p:cNvPr>
          <p:cNvSpPr>
            <a:spLocks noGrp="1"/>
          </p:cNvSpPr>
          <p:nvPr>
            <p:ph type="title"/>
          </p:nvPr>
        </p:nvSpPr>
        <p:spPr>
          <a:xfrm>
            <a:off x="1097280" y="286603"/>
            <a:ext cx="10058400" cy="1450757"/>
          </a:xfrm>
        </p:spPr>
        <p:txBody>
          <a:bodyPr>
            <a:normAutofit/>
          </a:bodyPr>
          <a:lstStyle/>
          <a:p>
            <a:r>
              <a:rPr lang="en-US" dirty="0"/>
              <a:t>Project Goals</a:t>
            </a:r>
          </a:p>
        </p:txBody>
      </p:sp>
      <p:graphicFrame>
        <p:nvGraphicFramePr>
          <p:cNvPr id="5" name="Content Placeholder 2">
            <a:extLst>
              <a:ext uri="{FF2B5EF4-FFF2-40B4-BE49-F238E27FC236}">
                <a16:creationId xmlns:a16="http://schemas.microsoft.com/office/drawing/2014/main" id="{34021A07-A3B9-695B-40A0-3B36CBF73219}"/>
              </a:ext>
            </a:extLst>
          </p:cNvPr>
          <p:cNvGraphicFramePr>
            <a:graphicFrameLocks noGrp="1"/>
          </p:cNvGraphicFramePr>
          <p:nvPr>
            <p:ph idx="1"/>
            <p:extLst>
              <p:ext uri="{D42A27DB-BD31-4B8C-83A1-F6EECF244321}">
                <p14:modId xmlns:p14="http://schemas.microsoft.com/office/powerpoint/2010/main" val="489995508"/>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834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6D981-1D19-87F5-00EC-6BA0F198CDB3}"/>
              </a:ext>
            </a:extLst>
          </p:cNvPr>
          <p:cNvSpPr>
            <a:spLocks noGrp="1"/>
          </p:cNvSpPr>
          <p:nvPr>
            <p:ph type="title"/>
          </p:nvPr>
        </p:nvSpPr>
        <p:spPr/>
        <p:txBody>
          <a:bodyPr/>
          <a:lstStyle/>
          <a:p>
            <a:r>
              <a:rPr lang="en-US" dirty="0"/>
              <a:t>Data Retrieval &amp; Cleaning</a:t>
            </a:r>
          </a:p>
        </p:txBody>
      </p:sp>
      <p:sp>
        <p:nvSpPr>
          <p:cNvPr id="3" name="Content Placeholder 2">
            <a:extLst>
              <a:ext uri="{FF2B5EF4-FFF2-40B4-BE49-F238E27FC236}">
                <a16:creationId xmlns:a16="http://schemas.microsoft.com/office/drawing/2014/main" id="{D47DAC94-E07C-D054-AA8A-DA02008A3AE1}"/>
              </a:ext>
            </a:extLst>
          </p:cNvPr>
          <p:cNvSpPr>
            <a:spLocks noGrp="1"/>
          </p:cNvSpPr>
          <p:nvPr>
            <p:ph idx="1"/>
          </p:nvPr>
        </p:nvSpPr>
        <p:spPr/>
        <p:txBody>
          <a:bodyPr>
            <a:normAutofit/>
          </a:bodyPr>
          <a:lstStyle/>
          <a:p>
            <a:r>
              <a:rPr lang="en-US" dirty="0"/>
              <a:t>Data on missed trash pickups from November 2017 through October 2019 was collected via </a:t>
            </a:r>
            <a:r>
              <a:rPr lang="en-US" dirty="0">
                <a:hlinkClick r:id="rId2"/>
              </a:rPr>
              <a:t>hubNashville</a:t>
            </a:r>
            <a:r>
              <a:rPr lang="en-US" dirty="0"/>
              <a:t> from customer complaints about trash services.</a:t>
            </a:r>
          </a:p>
          <a:p>
            <a:r>
              <a:rPr lang="en-US" dirty="0"/>
              <a:t>Data was filtered for relevancy by looking for “missed pickups”, “[trash] not picked up”, and similar patterns.</a:t>
            </a:r>
          </a:p>
          <a:p>
            <a:r>
              <a:rPr lang="en-US" dirty="0"/>
              <a:t>Street addresses were extracted and normalized to identify the street and building number.</a:t>
            </a:r>
          </a:p>
          <a:p>
            <a:pPr lvl="1"/>
            <a:r>
              <a:rPr lang="en-US" dirty="0"/>
              <a:t>Complaints submitted on behalf of an entire street made up less than 1% of the data and were discarded for consistent analysis.</a:t>
            </a:r>
          </a:p>
          <a:p>
            <a:pPr lvl="1"/>
            <a:r>
              <a:rPr lang="en-US" dirty="0"/>
              <a:t>Complaints with no address associated were less than 0.25% of data and were also discarded.</a:t>
            </a:r>
          </a:p>
          <a:p>
            <a:r>
              <a:rPr lang="en-US" dirty="0"/>
              <a:t>Duplicate requests for the same address on the same day were also discarded.</a:t>
            </a:r>
          </a:p>
        </p:txBody>
      </p:sp>
    </p:spTree>
    <p:extLst>
      <p:ext uri="{BB962C8B-B14F-4D97-AF65-F5344CB8AC3E}">
        <p14:creationId xmlns:p14="http://schemas.microsoft.com/office/powerpoint/2010/main" val="3591909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A95F0A0-D2F1-392E-9DF1-6768C9FBA44A}"/>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Damages for Chronic Missed Pickups</a:t>
            </a:r>
          </a:p>
        </p:txBody>
      </p:sp>
      <p:sp>
        <p:nvSpPr>
          <p:cNvPr id="3" name="Content Placeholder 2">
            <a:extLst>
              <a:ext uri="{FF2B5EF4-FFF2-40B4-BE49-F238E27FC236}">
                <a16:creationId xmlns:a16="http://schemas.microsoft.com/office/drawing/2014/main" id="{A1DC5D51-B224-2EF6-73A4-50D45618173A}"/>
              </a:ext>
            </a:extLst>
          </p:cNvPr>
          <p:cNvSpPr>
            <a:spLocks noGrp="1"/>
          </p:cNvSpPr>
          <p:nvPr>
            <p:ph idx="1"/>
          </p:nvPr>
        </p:nvSpPr>
        <p:spPr>
          <a:xfrm>
            <a:off x="492371" y="2653800"/>
            <a:ext cx="3084844" cy="3335519"/>
          </a:xfrm>
        </p:spPr>
        <p:txBody>
          <a:bodyPr>
            <a:normAutofit/>
          </a:bodyPr>
          <a:lstStyle/>
          <a:p>
            <a:r>
              <a:rPr lang="en-US" sz="1800" dirty="0">
                <a:solidFill>
                  <a:srgbClr val="FFFFFF"/>
                </a:solidFill>
              </a:rPr>
              <a:t>If charged a $200 fine for every missed pickup at an address after the first, Red River Waste Solutions would owe over $850,000.</a:t>
            </a:r>
          </a:p>
          <a:p>
            <a:r>
              <a:rPr lang="en-US" sz="1800" dirty="0">
                <a:solidFill>
                  <a:srgbClr val="FFFFFF"/>
                </a:solidFill>
              </a:rPr>
              <a:t>Additionally, around $13,000 could potentially be available to the city if the complaint tracking system more thoroughly identified the haulers responsible for pickups at the caller’s address.</a:t>
            </a:r>
          </a:p>
        </p:txBody>
      </p:sp>
      <p:sp>
        <p:nvSpPr>
          <p:cNvPr id="23" name="Rectangle 22">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8" name="Picture 7" descr="A graph of different colored squares&#10;&#10;AI-generated content may be incorrect.">
            <a:extLst>
              <a:ext uri="{FF2B5EF4-FFF2-40B4-BE49-F238E27FC236}">
                <a16:creationId xmlns:a16="http://schemas.microsoft.com/office/drawing/2014/main" id="{039B7ADF-150A-CDA9-2443-2879C15F1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1307" y="640080"/>
            <a:ext cx="5159502" cy="5577840"/>
          </a:xfrm>
          <a:prstGeom prst="rect">
            <a:avLst/>
          </a:prstGeom>
        </p:spPr>
      </p:pic>
    </p:spTree>
    <p:extLst>
      <p:ext uri="{BB962C8B-B14F-4D97-AF65-F5344CB8AC3E}">
        <p14:creationId xmlns:p14="http://schemas.microsoft.com/office/powerpoint/2010/main" val="1989161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404895D-7299-1013-01CE-EBF1829C73E7}"/>
              </a:ext>
            </a:extLst>
          </p:cNvPr>
          <p:cNvSpPr>
            <a:spLocks noGrp="1"/>
          </p:cNvSpPr>
          <p:nvPr>
            <p:ph type="title"/>
          </p:nvPr>
        </p:nvSpPr>
        <p:spPr>
          <a:xfrm>
            <a:off x="492370" y="516835"/>
            <a:ext cx="3084844" cy="2103875"/>
          </a:xfrm>
        </p:spPr>
        <p:txBody>
          <a:bodyPr>
            <a:normAutofit/>
          </a:bodyPr>
          <a:lstStyle/>
          <a:p>
            <a:r>
              <a:rPr lang="en-US" sz="3600" dirty="0">
                <a:solidFill>
                  <a:srgbClr val="FFFFFF"/>
                </a:solidFill>
              </a:rPr>
              <a:t>Other Fine Structures</a:t>
            </a:r>
          </a:p>
        </p:txBody>
      </p:sp>
      <p:sp>
        <p:nvSpPr>
          <p:cNvPr id="3" name="Content Placeholder 2">
            <a:extLst>
              <a:ext uri="{FF2B5EF4-FFF2-40B4-BE49-F238E27FC236}">
                <a16:creationId xmlns:a16="http://schemas.microsoft.com/office/drawing/2014/main" id="{AAB85237-D732-FB4E-B90A-F96919A33E7F}"/>
              </a:ext>
            </a:extLst>
          </p:cNvPr>
          <p:cNvSpPr>
            <a:spLocks noGrp="1"/>
          </p:cNvSpPr>
          <p:nvPr>
            <p:ph idx="1"/>
          </p:nvPr>
        </p:nvSpPr>
        <p:spPr>
          <a:xfrm>
            <a:off x="492371" y="2653800"/>
            <a:ext cx="3084844" cy="3335519"/>
          </a:xfrm>
        </p:spPr>
        <p:txBody>
          <a:bodyPr>
            <a:normAutofit/>
          </a:bodyPr>
          <a:lstStyle/>
          <a:p>
            <a:r>
              <a:rPr lang="en-US" sz="1800" b="1" dirty="0">
                <a:solidFill>
                  <a:srgbClr val="FFFFFF"/>
                </a:solidFill>
              </a:rPr>
              <a:t>Alternative method 1</a:t>
            </a:r>
            <a:r>
              <a:rPr lang="en-US" sz="1800" dirty="0">
                <a:solidFill>
                  <a:srgbClr val="FFFFFF"/>
                </a:solidFill>
              </a:rPr>
              <a:t> would nearly double the fine amount each company pays compared to the initial method, while </a:t>
            </a:r>
            <a:r>
              <a:rPr lang="en-US" sz="1800" b="1" dirty="0">
                <a:solidFill>
                  <a:srgbClr val="FFFFFF"/>
                </a:solidFill>
              </a:rPr>
              <a:t>alternative method 2</a:t>
            </a:r>
            <a:r>
              <a:rPr lang="en-US" sz="1800" dirty="0">
                <a:solidFill>
                  <a:srgbClr val="FFFFFF"/>
                </a:solidFill>
              </a:rPr>
              <a:t> would be slightly lower for each.</a:t>
            </a:r>
          </a:p>
          <a:p>
            <a:r>
              <a:rPr lang="en-US" sz="1500" b="1" dirty="0">
                <a:solidFill>
                  <a:srgbClr val="FFFFFF"/>
                </a:solidFill>
              </a:rPr>
              <a:t>Alternative 1: </a:t>
            </a:r>
            <a:r>
              <a:rPr lang="en-US" sz="1500" dirty="0">
                <a:solidFill>
                  <a:srgbClr val="FFFFFF"/>
                </a:solidFill>
              </a:rPr>
              <a:t>$1,500 for every combination of three missed pickups at a single address within 180 days.</a:t>
            </a:r>
          </a:p>
          <a:p>
            <a:r>
              <a:rPr lang="en-US" sz="1500" b="1" dirty="0">
                <a:solidFill>
                  <a:srgbClr val="FFFFFF"/>
                </a:solidFill>
              </a:rPr>
              <a:t>Alternative 2:</a:t>
            </a:r>
            <a:r>
              <a:rPr lang="en-US" sz="1500" dirty="0">
                <a:solidFill>
                  <a:srgbClr val="FFFFFF"/>
                </a:solidFill>
              </a:rPr>
              <a:t> $1,500 for each three missed pickups at an address within 180 days.</a:t>
            </a:r>
            <a:endParaRPr lang="en-US" sz="1500" b="1" dirty="0">
              <a:solidFill>
                <a:srgbClr val="FFFFFF"/>
              </a:solidFill>
            </a:endParaRPr>
          </a:p>
        </p:txBody>
      </p:sp>
      <p:sp>
        <p:nvSpPr>
          <p:cNvPr id="15" name="Rectangle 14">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6" name="Picture 5" descr="A graph of different types of methods&#10;&#10;AI-generated content may be incorrect.">
            <a:extLst>
              <a:ext uri="{FF2B5EF4-FFF2-40B4-BE49-F238E27FC236}">
                <a16:creationId xmlns:a16="http://schemas.microsoft.com/office/drawing/2014/main" id="{4F5D54C5-DE6B-2B0A-4204-D401AA14CD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2017" y="1075164"/>
            <a:ext cx="6798082" cy="4707672"/>
          </a:xfrm>
          <a:prstGeom prst="rect">
            <a:avLst/>
          </a:prstGeom>
        </p:spPr>
      </p:pic>
    </p:spTree>
    <p:extLst>
      <p:ext uri="{BB962C8B-B14F-4D97-AF65-F5344CB8AC3E}">
        <p14:creationId xmlns:p14="http://schemas.microsoft.com/office/powerpoint/2010/main" val="1652746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C4EF74-236B-DC58-FF84-B075B83779F7}"/>
              </a:ext>
            </a:extLst>
          </p:cNvPr>
          <p:cNvSpPr>
            <a:spLocks noGrp="1"/>
          </p:cNvSpPr>
          <p:nvPr>
            <p:ph type="title"/>
          </p:nvPr>
        </p:nvSpPr>
        <p:spPr>
          <a:xfrm>
            <a:off x="6411685" y="634946"/>
            <a:ext cx="5127171" cy="1450757"/>
          </a:xfrm>
        </p:spPr>
        <p:txBody>
          <a:bodyPr>
            <a:normAutofit/>
          </a:bodyPr>
          <a:lstStyle/>
          <a:p>
            <a:r>
              <a:rPr lang="en-US" sz="4400"/>
              <a:t>How do metro crews compare to Red River?</a:t>
            </a:r>
          </a:p>
        </p:txBody>
      </p:sp>
      <p:cxnSp>
        <p:nvCxnSpPr>
          <p:cNvPr id="16" name="Straight Connector 15">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464F8E4-33F6-B6AB-F6A6-0B85F8123855}"/>
              </a:ext>
            </a:extLst>
          </p:cNvPr>
          <p:cNvSpPr>
            <a:spLocks noGrp="1"/>
          </p:cNvSpPr>
          <p:nvPr>
            <p:ph idx="1"/>
          </p:nvPr>
        </p:nvSpPr>
        <p:spPr>
          <a:xfrm>
            <a:off x="6411684" y="2198914"/>
            <a:ext cx="5127172" cy="3670180"/>
          </a:xfrm>
        </p:spPr>
        <p:txBody>
          <a:bodyPr>
            <a:normAutofit/>
          </a:bodyPr>
          <a:lstStyle/>
          <a:p>
            <a:r>
              <a:rPr lang="en-US" dirty="0"/>
              <a:t>While metro crews missed only ¼ of the number of pickups that Red River did, without knowing the total number of locations that each crew was responsible for we can’t compare their </a:t>
            </a:r>
            <a:r>
              <a:rPr lang="en-US" i="1" dirty="0"/>
              <a:t>rates</a:t>
            </a:r>
            <a:r>
              <a:rPr lang="en-US" dirty="0"/>
              <a:t> of misses.  </a:t>
            </a:r>
          </a:p>
          <a:p>
            <a:r>
              <a:rPr lang="en-US" dirty="0"/>
              <a:t>Additionally, other factors related to the locations that each crew covers may impact those rates independent of the company itself.</a:t>
            </a:r>
          </a:p>
          <a:p>
            <a:pPr marL="0" indent="0">
              <a:buNone/>
            </a:pPr>
            <a:endParaRPr lang="en-US" dirty="0"/>
          </a:p>
        </p:txBody>
      </p:sp>
      <p:sp>
        <p:nvSpPr>
          <p:cNvPr id="18" name="Rectangle 17">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28" name="Picture 4">
            <a:extLst>
              <a:ext uri="{FF2B5EF4-FFF2-40B4-BE49-F238E27FC236}">
                <a16:creationId xmlns:a16="http://schemas.microsoft.com/office/drawing/2014/main" id="{4FBDF687-473D-D8CC-1BDF-C3D99C585F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136" y="353527"/>
            <a:ext cx="4156457" cy="369077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F6E28F70-CF97-9245-222A-AA1410D51D37}"/>
              </a:ext>
            </a:extLst>
          </p:cNvPr>
          <p:cNvGraphicFramePr>
            <a:graphicFrameLocks noGrp="1"/>
          </p:cNvGraphicFramePr>
          <p:nvPr>
            <p:extLst>
              <p:ext uri="{D42A27DB-BD31-4B8C-83A1-F6EECF244321}">
                <p14:modId xmlns:p14="http://schemas.microsoft.com/office/powerpoint/2010/main" val="3092340180"/>
              </p:ext>
            </p:extLst>
          </p:nvPr>
        </p:nvGraphicFramePr>
        <p:xfrm>
          <a:off x="966374" y="4535372"/>
          <a:ext cx="3833980" cy="1307872"/>
        </p:xfrm>
        <a:graphic>
          <a:graphicData uri="http://schemas.openxmlformats.org/drawingml/2006/table">
            <a:tbl>
              <a:tblPr firstRow="1" bandRow="1">
                <a:tableStyleId>{72833802-FEF1-4C79-8D5D-14CF1EAF98D9}</a:tableStyleId>
              </a:tblPr>
              <a:tblGrid>
                <a:gridCol w="1698749">
                  <a:extLst>
                    <a:ext uri="{9D8B030D-6E8A-4147-A177-3AD203B41FA5}">
                      <a16:colId xmlns:a16="http://schemas.microsoft.com/office/drawing/2014/main" val="403325579"/>
                    </a:ext>
                  </a:extLst>
                </a:gridCol>
                <a:gridCol w="2135231">
                  <a:extLst>
                    <a:ext uri="{9D8B030D-6E8A-4147-A177-3AD203B41FA5}">
                      <a16:colId xmlns:a16="http://schemas.microsoft.com/office/drawing/2014/main" val="3447504659"/>
                    </a:ext>
                  </a:extLst>
                </a:gridCol>
              </a:tblGrid>
              <a:tr h="0">
                <a:tc>
                  <a:txBody>
                    <a:bodyPr/>
                    <a:lstStyle/>
                    <a:p>
                      <a:pPr algn="ctr"/>
                      <a:r>
                        <a:rPr lang="en-US" sz="1600" dirty="0">
                          <a:solidFill>
                            <a:schemeClr val="tx1"/>
                          </a:solidFill>
                        </a:rPr>
                        <a:t>Trash Hauler</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600" dirty="0">
                          <a:solidFill>
                            <a:schemeClr val="tx1"/>
                          </a:solidFill>
                        </a:rPr>
                        <a:t>Missed Trash Pickup    </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511357193"/>
                  </a:ext>
                </a:extLst>
              </a:tr>
              <a:tr h="0">
                <a:tc>
                  <a:txBody>
                    <a:bodyPr/>
                    <a:lstStyle/>
                    <a:p>
                      <a:pPr algn="ctr"/>
                      <a:r>
                        <a:rPr lang="en-US" sz="1600" dirty="0"/>
                        <a:t>Red River</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14,373</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4991488"/>
                  </a:ext>
                </a:extLst>
              </a:tr>
              <a:tr h="0">
                <a:tc>
                  <a:txBody>
                    <a:bodyPr/>
                    <a:lstStyle/>
                    <a:p>
                      <a:pPr algn="ctr"/>
                      <a:r>
                        <a:rPr lang="en-US" sz="1600" dirty="0"/>
                        <a:t>Metro</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3,574</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4360170"/>
                  </a:ext>
                </a:extLst>
              </a:tr>
              <a:tr h="0">
                <a:tc>
                  <a:txBody>
                    <a:bodyPr/>
                    <a:lstStyle/>
                    <a:p>
                      <a:pPr algn="ctr"/>
                      <a:r>
                        <a:rPr lang="en-US" sz="1600" dirty="0"/>
                        <a:t>Waste Industries</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1,349</a:t>
                      </a:r>
                    </a:p>
                  </a:txBody>
                  <a:tcPr marT="41564" marB="415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1006186"/>
                  </a:ext>
                </a:extLst>
              </a:tr>
            </a:tbl>
          </a:graphicData>
        </a:graphic>
      </p:graphicFrame>
    </p:spTree>
    <p:extLst>
      <p:ext uri="{BB962C8B-B14F-4D97-AF65-F5344CB8AC3E}">
        <p14:creationId xmlns:p14="http://schemas.microsoft.com/office/powerpoint/2010/main" val="3780407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6C8C7-80A2-1A2E-0837-DD4F5F9F02DF}"/>
              </a:ext>
            </a:extLst>
          </p:cNvPr>
          <p:cNvSpPr>
            <a:spLocks noGrp="1"/>
          </p:cNvSpPr>
          <p:nvPr>
            <p:ph type="title"/>
          </p:nvPr>
        </p:nvSpPr>
        <p:spPr/>
        <p:txBody>
          <a:bodyPr vert="horz" lIns="91440" tIns="45720" rIns="91440" bIns="45720" rtlCol="0" anchor="b">
            <a:normAutofit/>
          </a:bodyPr>
          <a:lstStyle/>
          <a:p>
            <a:r>
              <a:rPr lang="en-US" sz="3700" dirty="0"/>
              <a:t>Routes with Highest Missed Pickups (By Hauler)</a:t>
            </a:r>
          </a:p>
        </p:txBody>
      </p:sp>
      <p:pic>
        <p:nvPicPr>
          <p:cNvPr id="3074" name="Picture 2">
            <a:extLst>
              <a:ext uri="{FF2B5EF4-FFF2-40B4-BE49-F238E27FC236}">
                <a16:creationId xmlns:a16="http://schemas.microsoft.com/office/drawing/2014/main" id="{DF53EB34-9D71-E017-7FD9-061BB3B1D66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857"/>
          <a:stretch>
            <a:fillRect/>
          </a:stretch>
        </p:blipFill>
        <p:spPr bwMode="auto">
          <a:xfrm>
            <a:off x="1294791" y="3329578"/>
            <a:ext cx="9202522" cy="289347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1799BA9-CD35-18DD-BAA4-F1F0C52192FB}"/>
              </a:ext>
            </a:extLst>
          </p:cNvPr>
          <p:cNvSpPr>
            <a:spLocks noChangeArrowheads="1"/>
          </p:cNvSpPr>
          <p:nvPr/>
        </p:nvSpPr>
        <p:spPr bwMode="auto">
          <a:xfrm>
            <a:off x="1097280" y="1945843"/>
            <a:ext cx="10441576" cy="392325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45720" rIns="0" bIns="45720" numCol="1" rtlCol="0" anchorCtr="0" compatLnSpc="1">
            <a:prstTxWarp prst="textNoShape">
              <a:avLst/>
            </a:prstTxWarp>
            <a:normAutofit/>
          </a:bodyPr>
          <a:lstStyle/>
          <a:p>
            <a:pPr marL="285750" indent="-285750" defTabSz="914400" fontAlgn="base">
              <a:lnSpc>
                <a:spcPct val="90000"/>
              </a:lnSpc>
              <a:spcBef>
                <a:spcPct val="0"/>
              </a:spcBef>
              <a:spcAft>
                <a:spcPts val="600"/>
              </a:spcAft>
              <a:buClr>
                <a:schemeClr val="accent1"/>
              </a:buClr>
              <a:buFont typeface="Calibri" panose="020F0502020204030204" pitchFamily="34" charset="0"/>
              <a:buChar char="•"/>
            </a:pPr>
            <a:r>
              <a:rPr lang="en-US" altLang="en-US" dirty="0">
                <a:solidFill>
                  <a:schemeClr val="tx1">
                    <a:lumMod val="75000"/>
                    <a:lumOff val="25000"/>
                  </a:schemeClr>
                </a:solidFill>
              </a:rPr>
              <a:t>Multiple high-impact routes for Red River compared to the others.</a:t>
            </a:r>
          </a:p>
          <a:p>
            <a:pPr marL="285750" indent="-285750" defTabSz="914400" fontAlgn="base">
              <a:lnSpc>
                <a:spcPct val="90000"/>
              </a:lnSpc>
              <a:spcBef>
                <a:spcPct val="0"/>
              </a:spcBef>
              <a:spcAft>
                <a:spcPts val="600"/>
              </a:spcAft>
              <a:buClr>
                <a:schemeClr val="accent1"/>
              </a:buClr>
              <a:buFont typeface="Calibri" panose="020F0502020204030204" pitchFamily="34" charset="0"/>
              <a:buChar char="•"/>
            </a:pPr>
            <a:r>
              <a:rPr lang="en-US" altLang="en-US" dirty="0">
                <a:solidFill>
                  <a:schemeClr val="tx1">
                    <a:lumMod val="75000"/>
                    <a:lumOff val="25000"/>
                  </a:schemeClr>
                </a:solidFill>
              </a:rPr>
              <a:t>Metro and Waste Industries show fewer extreme outliers, indicating more consistent route performance.</a:t>
            </a:r>
          </a:p>
          <a:p>
            <a:pPr marL="285750" indent="-285750" defTabSz="914400" fontAlgn="base">
              <a:lnSpc>
                <a:spcPct val="90000"/>
              </a:lnSpc>
              <a:spcBef>
                <a:spcPct val="0"/>
              </a:spcBef>
              <a:spcAft>
                <a:spcPts val="600"/>
              </a:spcAft>
              <a:buClr>
                <a:schemeClr val="accent1"/>
              </a:buClr>
              <a:buFont typeface="Calibri" panose="020F0502020204030204" pitchFamily="34" charset="0"/>
              <a:buChar char="•"/>
            </a:pPr>
            <a:r>
              <a:rPr lang="en-US" altLang="en-US" dirty="0">
                <a:solidFill>
                  <a:schemeClr val="tx1">
                    <a:lumMod val="75000"/>
                    <a:lumOff val="25000"/>
                  </a:schemeClr>
                </a:solidFill>
              </a:rPr>
              <a:t>Cannot compare routes proportionally because we don’t have data on total stops or route sizes.</a:t>
            </a:r>
          </a:p>
          <a:p>
            <a:pPr marL="285750" indent="-285750" defTabSz="914400" fontAlgn="base">
              <a:lnSpc>
                <a:spcPct val="90000"/>
              </a:lnSpc>
              <a:spcBef>
                <a:spcPct val="0"/>
              </a:spcBef>
              <a:spcAft>
                <a:spcPts val="600"/>
              </a:spcAft>
              <a:buClr>
                <a:schemeClr val="accent1"/>
              </a:buClr>
              <a:buFont typeface="Calibri" panose="020F0502020204030204" pitchFamily="34" charset="0"/>
              <a:buChar char="•"/>
            </a:pPr>
            <a:r>
              <a:rPr lang="en-US" altLang="en-US" dirty="0">
                <a:solidFill>
                  <a:schemeClr val="tx1">
                    <a:lumMod val="75000"/>
                    <a:lumOff val="25000"/>
                  </a:schemeClr>
                </a:solidFill>
              </a:rPr>
              <a:t>Still useful for identifying routes that may need operational review or resource adjustment.</a:t>
            </a:r>
          </a:p>
        </p:txBody>
      </p:sp>
    </p:spTree>
    <p:extLst>
      <p:ext uri="{BB962C8B-B14F-4D97-AF65-F5344CB8AC3E}">
        <p14:creationId xmlns:p14="http://schemas.microsoft.com/office/powerpoint/2010/main" val="2852469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7" name="Rectangle 2056">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59" name="Rectangle 2058">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061" name="Straight Connector 2060">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063" name="Rectangle 2062">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5C90F4-E3E8-8AA4-4C67-3744319139ED}"/>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4400"/>
              <a:t>Missed pickups by Month </a:t>
            </a:r>
          </a:p>
        </p:txBody>
      </p:sp>
      <p:sp>
        <p:nvSpPr>
          <p:cNvPr id="8" name="Rectangle 7">
            <a:extLst>
              <a:ext uri="{FF2B5EF4-FFF2-40B4-BE49-F238E27FC236}">
                <a16:creationId xmlns:a16="http://schemas.microsoft.com/office/drawing/2014/main" id="{04AD6C1E-5D3B-AF75-9616-DFCEF70F05D8}"/>
              </a:ext>
            </a:extLst>
          </p:cNvPr>
          <p:cNvSpPr>
            <a:spLocks noChangeArrowheads="1"/>
          </p:cNvSpPr>
          <p:nvPr/>
        </p:nvSpPr>
        <p:spPr bwMode="auto">
          <a:xfrm>
            <a:off x="7859485" y="2198914"/>
            <a:ext cx="3690257" cy="36701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45720" rIns="0" bIns="45720" numCol="1" rtlCol="0" anchorCtr="0" compatLnSpc="1">
            <a:prstTxWarp prst="textNoShape">
              <a:avLst/>
            </a:prstTxWarp>
            <a:normAutofit/>
          </a:bodyPr>
          <a:lstStyle/>
          <a:p>
            <a:pPr marL="285750" indent="-285750" defTabSz="914400" fontAlgn="base">
              <a:lnSpc>
                <a:spcPct val="90000"/>
              </a:lnSpc>
              <a:spcBef>
                <a:spcPct val="0"/>
              </a:spcBef>
              <a:spcAft>
                <a:spcPts val="600"/>
              </a:spcAft>
              <a:buClr>
                <a:schemeClr val="accent1"/>
              </a:buClr>
              <a:buFont typeface="Calibri" panose="020F0502020204030204" pitchFamily="34" charset="0"/>
              <a:buChar char="•"/>
            </a:pPr>
            <a:r>
              <a:rPr lang="en-US" altLang="en-US" sz="1700" dirty="0">
                <a:solidFill>
                  <a:schemeClr val="tx1">
                    <a:lumMod val="75000"/>
                    <a:lumOff val="25000"/>
                  </a:schemeClr>
                </a:solidFill>
              </a:rPr>
              <a:t>Shows monthly trends in missed pickups from Nov 2017 through Oct 2019.</a:t>
            </a:r>
          </a:p>
          <a:p>
            <a:pPr defTabSz="914400" fontAlgn="base">
              <a:lnSpc>
                <a:spcPct val="90000"/>
              </a:lnSpc>
              <a:spcBef>
                <a:spcPct val="0"/>
              </a:spcBef>
              <a:spcAft>
                <a:spcPts val="600"/>
              </a:spcAft>
              <a:buClr>
                <a:schemeClr val="accent1"/>
              </a:buClr>
              <a:buFont typeface="Calibri" panose="020F0502020204030204" pitchFamily="34" charset="0"/>
              <a:buChar char="•"/>
            </a:pPr>
            <a:endParaRPr lang="en-US" altLang="en-US" sz="1700" dirty="0">
              <a:solidFill>
                <a:schemeClr val="tx1">
                  <a:lumMod val="75000"/>
                  <a:lumOff val="25000"/>
                </a:schemeClr>
              </a:solidFill>
            </a:endParaRPr>
          </a:p>
          <a:p>
            <a:pPr marL="285750" indent="-285750" defTabSz="914400" fontAlgn="base">
              <a:lnSpc>
                <a:spcPct val="90000"/>
              </a:lnSpc>
              <a:spcBef>
                <a:spcPct val="0"/>
              </a:spcBef>
              <a:spcAft>
                <a:spcPts val="600"/>
              </a:spcAft>
              <a:buClr>
                <a:schemeClr val="accent1"/>
              </a:buClr>
              <a:buFont typeface="Calibri" panose="020F0502020204030204" pitchFamily="34" charset="0"/>
              <a:buChar char="•"/>
            </a:pPr>
            <a:r>
              <a:rPr lang="en-US" altLang="en-US" sz="1700" dirty="0">
                <a:solidFill>
                  <a:schemeClr val="tx1">
                    <a:lumMod val="75000"/>
                    <a:lumOff val="25000"/>
                  </a:schemeClr>
                </a:solidFill>
              </a:rPr>
              <a:t>2018 remained relatively stable, 450–600 missed pickups per month.</a:t>
            </a:r>
          </a:p>
          <a:p>
            <a:pPr defTabSz="914400" fontAlgn="base">
              <a:lnSpc>
                <a:spcPct val="90000"/>
              </a:lnSpc>
              <a:spcBef>
                <a:spcPct val="0"/>
              </a:spcBef>
              <a:spcAft>
                <a:spcPts val="600"/>
              </a:spcAft>
              <a:buClr>
                <a:schemeClr val="accent1"/>
              </a:buClr>
              <a:buFont typeface="Calibri" panose="020F0502020204030204" pitchFamily="34" charset="0"/>
              <a:buChar char="•"/>
            </a:pPr>
            <a:endParaRPr lang="en-US" altLang="en-US" sz="1700" dirty="0">
              <a:solidFill>
                <a:schemeClr val="tx1">
                  <a:lumMod val="75000"/>
                  <a:lumOff val="25000"/>
                </a:schemeClr>
              </a:solidFill>
            </a:endParaRPr>
          </a:p>
          <a:p>
            <a:pPr marL="285750" indent="-285750" defTabSz="914400" fontAlgn="base">
              <a:lnSpc>
                <a:spcPct val="90000"/>
              </a:lnSpc>
              <a:spcBef>
                <a:spcPct val="0"/>
              </a:spcBef>
              <a:spcAft>
                <a:spcPts val="600"/>
              </a:spcAft>
              <a:buClr>
                <a:schemeClr val="accent1"/>
              </a:buClr>
              <a:buFont typeface="Calibri" panose="020F0502020204030204" pitchFamily="34" charset="0"/>
              <a:buChar char="•"/>
            </a:pPr>
            <a:r>
              <a:rPr lang="en-US" altLang="en-US" sz="1700" dirty="0">
                <a:solidFill>
                  <a:schemeClr val="tx1">
                    <a:lumMod val="75000"/>
                    <a:lumOff val="25000"/>
                  </a:schemeClr>
                </a:solidFill>
              </a:rPr>
              <a:t>2019 showed a steady rise every month, with consistently higher misses in summer.</a:t>
            </a:r>
          </a:p>
          <a:p>
            <a:pPr defTabSz="914400" fontAlgn="base">
              <a:lnSpc>
                <a:spcPct val="90000"/>
              </a:lnSpc>
              <a:spcBef>
                <a:spcPct val="0"/>
              </a:spcBef>
              <a:spcAft>
                <a:spcPts val="600"/>
              </a:spcAft>
              <a:buClr>
                <a:schemeClr val="accent1"/>
              </a:buClr>
              <a:buFont typeface="Calibri" panose="020F0502020204030204" pitchFamily="34" charset="0"/>
              <a:buChar char="•"/>
            </a:pPr>
            <a:endParaRPr lang="en-US" altLang="en-US" sz="1700" dirty="0">
              <a:solidFill>
                <a:schemeClr val="tx1">
                  <a:lumMod val="75000"/>
                  <a:lumOff val="25000"/>
                </a:schemeClr>
              </a:solidFill>
            </a:endParaRPr>
          </a:p>
          <a:p>
            <a:pPr marL="285750" indent="-285750" defTabSz="914400" fontAlgn="base">
              <a:lnSpc>
                <a:spcPct val="90000"/>
              </a:lnSpc>
              <a:spcBef>
                <a:spcPct val="0"/>
              </a:spcBef>
              <a:spcAft>
                <a:spcPts val="600"/>
              </a:spcAft>
              <a:buClr>
                <a:schemeClr val="accent1"/>
              </a:buClr>
              <a:buFont typeface="Calibri" panose="020F0502020204030204" pitchFamily="34" charset="0"/>
              <a:buChar char="•"/>
            </a:pPr>
            <a:r>
              <a:rPr lang="en-US" altLang="en-US" sz="1700" dirty="0">
                <a:solidFill>
                  <a:schemeClr val="tx1">
                    <a:lumMod val="75000"/>
                    <a:lumOff val="25000"/>
                  </a:schemeClr>
                </a:solidFill>
              </a:rPr>
              <a:t>August 2019 experienced a major spike (1882 missed pickups)</a:t>
            </a:r>
          </a:p>
        </p:txBody>
      </p:sp>
      <p:sp>
        <p:nvSpPr>
          <p:cNvPr id="2067" name="Rectangle 2066">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69" name="Rectangle 2068">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052" name="Picture 4">
            <a:extLst>
              <a:ext uri="{FF2B5EF4-FFF2-40B4-BE49-F238E27FC236}">
                <a16:creationId xmlns:a16="http://schemas.microsoft.com/office/drawing/2014/main" id="{605C7E91-0F2E-015C-2939-D46F803F93B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633999" y="1310716"/>
            <a:ext cx="6909801" cy="3973135"/>
          </a:xfrm>
          <a:prstGeom prst="rect">
            <a:avLst/>
          </a:prstGeom>
          <a:noFill/>
          <a:extLst>
            <a:ext uri="{909E8E84-426E-40DD-AFC4-6F175D3DCCD1}">
              <a14:hiddenFill xmlns:a14="http://schemas.microsoft.com/office/drawing/2010/main">
                <a:solidFill>
                  <a:srgbClr val="FFFFFF"/>
                </a:solidFill>
              </a14:hiddenFill>
            </a:ext>
          </a:extLst>
        </p:spPr>
      </p:pic>
      <p:cxnSp>
        <p:nvCxnSpPr>
          <p:cNvPr id="2065" name="Straight Connector 2064">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2134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9EEB6-2F6A-9750-55F0-8D6D5DADEDBC}"/>
              </a:ext>
            </a:extLst>
          </p:cNvPr>
          <p:cNvSpPr>
            <a:spLocks noGrp="1"/>
          </p:cNvSpPr>
          <p:nvPr>
            <p:ph type="title"/>
          </p:nvPr>
        </p:nvSpPr>
        <p:spPr/>
        <p:txBody>
          <a:bodyPr/>
          <a:lstStyle/>
          <a:p>
            <a:r>
              <a:rPr lang="en-US" dirty="0"/>
              <a:t>Frequently Missed Locations</a:t>
            </a:r>
          </a:p>
        </p:txBody>
      </p:sp>
      <p:sp>
        <p:nvSpPr>
          <p:cNvPr id="12" name="Content Placeholder 11">
            <a:extLst>
              <a:ext uri="{FF2B5EF4-FFF2-40B4-BE49-F238E27FC236}">
                <a16:creationId xmlns:a16="http://schemas.microsoft.com/office/drawing/2014/main" id="{1A3C3846-FE00-1FD9-B4A7-E53C1008A71C}"/>
              </a:ext>
            </a:extLst>
          </p:cNvPr>
          <p:cNvSpPr>
            <a:spLocks noGrp="1"/>
          </p:cNvSpPr>
          <p:nvPr>
            <p:ph sz="half" idx="1"/>
          </p:nvPr>
        </p:nvSpPr>
        <p:spPr>
          <a:xfrm>
            <a:off x="838201" y="5054599"/>
            <a:ext cx="5181600" cy="1325564"/>
          </a:xfrm>
        </p:spPr>
        <p:txBody>
          <a:bodyPr>
            <a:normAutofit/>
          </a:bodyPr>
          <a:lstStyle/>
          <a:p>
            <a:r>
              <a:rPr lang="en-US" dirty="0"/>
              <a:t>While most addresses report missed pickups less than three times, the top-missed addresses have reported missed pickups on over </a:t>
            </a:r>
            <a:r>
              <a:rPr lang="en-US" b="1" dirty="0"/>
              <a:t>20</a:t>
            </a:r>
            <a:r>
              <a:rPr lang="en-US" dirty="0"/>
              <a:t> different dates!</a:t>
            </a:r>
          </a:p>
        </p:txBody>
      </p:sp>
      <p:sp>
        <p:nvSpPr>
          <p:cNvPr id="10" name="Content Placeholder 9">
            <a:extLst>
              <a:ext uri="{FF2B5EF4-FFF2-40B4-BE49-F238E27FC236}">
                <a16:creationId xmlns:a16="http://schemas.microsoft.com/office/drawing/2014/main" id="{FFF86EDB-2FF2-CDCF-C8DB-632CECCB7820}"/>
              </a:ext>
            </a:extLst>
          </p:cNvPr>
          <p:cNvSpPr>
            <a:spLocks noGrp="1"/>
          </p:cNvSpPr>
          <p:nvPr>
            <p:ph sz="half" idx="2"/>
          </p:nvPr>
        </p:nvSpPr>
        <p:spPr>
          <a:xfrm>
            <a:off x="6172200" y="3826165"/>
            <a:ext cx="5181600" cy="1891216"/>
          </a:xfrm>
        </p:spPr>
        <p:txBody>
          <a:bodyPr>
            <a:normAutofit/>
          </a:bodyPr>
          <a:lstStyle/>
          <a:p>
            <a:r>
              <a:rPr lang="en-US" dirty="0"/>
              <a:t>Old Hickory Blvd is the street with the most missed pickups – over </a:t>
            </a:r>
            <a:r>
              <a:rPr lang="en-US" b="1" dirty="0"/>
              <a:t>one hundred</a:t>
            </a:r>
            <a:r>
              <a:rPr lang="en-US" dirty="0"/>
              <a:t> – as well as being the location of the building with the third most misses reported.</a:t>
            </a:r>
          </a:p>
        </p:txBody>
      </p:sp>
      <p:graphicFrame>
        <p:nvGraphicFramePr>
          <p:cNvPr id="8" name="Content Placeholder 6">
            <a:extLst>
              <a:ext uri="{FF2B5EF4-FFF2-40B4-BE49-F238E27FC236}">
                <a16:creationId xmlns:a16="http://schemas.microsoft.com/office/drawing/2014/main" id="{FF43B930-BED1-1591-2230-212D393F1DAE}"/>
              </a:ext>
            </a:extLst>
          </p:cNvPr>
          <p:cNvGraphicFramePr>
            <a:graphicFrameLocks/>
          </p:cNvGraphicFramePr>
          <p:nvPr>
            <p:extLst>
              <p:ext uri="{D42A27DB-BD31-4B8C-83A1-F6EECF244321}">
                <p14:modId xmlns:p14="http://schemas.microsoft.com/office/powerpoint/2010/main" val="3222103550"/>
              </p:ext>
            </p:extLst>
          </p:nvPr>
        </p:nvGraphicFramePr>
        <p:xfrm>
          <a:off x="6172200" y="2084243"/>
          <a:ext cx="5181600" cy="1603375"/>
        </p:xfrm>
        <a:graphic>
          <a:graphicData uri="http://schemas.openxmlformats.org/drawingml/2006/table">
            <a:tbl>
              <a:tblPr>
                <a:tableStyleId>{21E4AEA4-8DFA-4A89-87EB-49C32662AFE0}</a:tableStyleId>
              </a:tblPr>
              <a:tblGrid>
                <a:gridCol w="2590800">
                  <a:extLst>
                    <a:ext uri="{9D8B030D-6E8A-4147-A177-3AD203B41FA5}">
                      <a16:colId xmlns:a16="http://schemas.microsoft.com/office/drawing/2014/main" val="1079851969"/>
                    </a:ext>
                  </a:extLst>
                </a:gridCol>
                <a:gridCol w="2590800">
                  <a:extLst>
                    <a:ext uri="{9D8B030D-6E8A-4147-A177-3AD203B41FA5}">
                      <a16:colId xmlns:a16="http://schemas.microsoft.com/office/drawing/2014/main" val="275346561"/>
                    </a:ext>
                  </a:extLst>
                </a:gridCol>
              </a:tblGrid>
              <a:tr h="332563">
                <a:tc>
                  <a:txBody>
                    <a:bodyPr/>
                    <a:lstStyle/>
                    <a:p>
                      <a:pPr>
                        <a:buNone/>
                      </a:pPr>
                      <a:r>
                        <a:rPr lang="en-US" sz="1100" b="1" dirty="0"/>
                        <a:t>Street</a:t>
                      </a:r>
                    </a:p>
                  </a:txBody>
                  <a:tcPr marL="45057" marR="45057" marT="22529" marB="22529" anchor="ctr"/>
                </a:tc>
                <a:tc>
                  <a:txBody>
                    <a:bodyPr/>
                    <a:lstStyle/>
                    <a:p>
                      <a:r>
                        <a:rPr lang="en-US" sz="1100" b="1" dirty="0"/>
                        <a:t>Missed Pickups</a:t>
                      </a:r>
                    </a:p>
                  </a:txBody>
                  <a:tcPr marL="45057" marR="45057" marT="22529" marB="22529" anchor="ctr"/>
                </a:tc>
                <a:extLst>
                  <a:ext uri="{0D108BD9-81ED-4DB2-BD59-A6C34878D82A}">
                    <a16:rowId xmlns:a16="http://schemas.microsoft.com/office/drawing/2014/main" val="2834163256"/>
                  </a:ext>
                </a:extLst>
              </a:tr>
              <a:tr h="220906">
                <a:tc>
                  <a:txBody>
                    <a:bodyPr/>
                    <a:lstStyle/>
                    <a:p>
                      <a:pPr>
                        <a:buNone/>
                      </a:pPr>
                      <a:r>
                        <a:rPr lang="nb-NO" sz="1100" dirty="0"/>
                        <a:t>Old Hickory Blvd</a:t>
                      </a:r>
                    </a:p>
                  </a:txBody>
                  <a:tcPr marL="45057" marR="45057" marT="22529" marB="22529" anchor="ctr">
                    <a:solidFill>
                      <a:schemeClr val="bg1">
                        <a:lumMod val="95000"/>
                      </a:schemeClr>
                    </a:solidFill>
                  </a:tcPr>
                </a:tc>
                <a:tc>
                  <a:txBody>
                    <a:bodyPr/>
                    <a:lstStyle/>
                    <a:p>
                      <a:pPr>
                        <a:buNone/>
                      </a:pPr>
                      <a:r>
                        <a:rPr lang="en-US" sz="1100" dirty="0"/>
                        <a:t>103</a:t>
                      </a:r>
                    </a:p>
                  </a:txBody>
                  <a:tcPr marL="45057" marR="45057" marT="22529" marB="22529" anchor="ctr">
                    <a:solidFill>
                      <a:schemeClr val="bg1">
                        <a:lumMod val="95000"/>
                      </a:schemeClr>
                    </a:solidFill>
                  </a:tcPr>
                </a:tc>
                <a:extLst>
                  <a:ext uri="{0D108BD9-81ED-4DB2-BD59-A6C34878D82A}">
                    <a16:rowId xmlns:a16="http://schemas.microsoft.com/office/drawing/2014/main" val="1848436159"/>
                  </a:ext>
                </a:extLst>
              </a:tr>
              <a:tr h="387188">
                <a:tc>
                  <a:txBody>
                    <a:bodyPr/>
                    <a:lstStyle/>
                    <a:p>
                      <a:pPr>
                        <a:buNone/>
                      </a:pPr>
                      <a:r>
                        <a:rPr lang="en-US" sz="1100" dirty="0"/>
                        <a:t>Buena Vista Pike</a:t>
                      </a:r>
                    </a:p>
                  </a:txBody>
                  <a:tcPr marL="45057" marR="45057" marT="22529" marB="22529" anchor="ctr">
                    <a:solidFill>
                      <a:schemeClr val="bg1">
                        <a:lumMod val="95000"/>
                      </a:schemeClr>
                    </a:solidFill>
                  </a:tcPr>
                </a:tc>
                <a:tc>
                  <a:txBody>
                    <a:bodyPr/>
                    <a:lstStyle/>
                    <a:p>
                      <a:pPr>
                        <a:buNone/>
                      </a:pPr>
                      <a:r>
                        <a:rPr lang="en-US" sz="1100" dirty="0"/>
                        <a:t>92</a:t>
                      </a:r>
                    </a:p>
                  </a:txBody>
                  <a:tcPr marL="45057" marR="45057" marT="22529" marB="22529" anchor="ctr">
                    <a:solidFill>
                      <a:schemeClr val="bg1">
                        <a:lumMod val="95000"/>
                      </a:schemeClr>
                    </a:solidFill>
                  </a:tcPr>
                </a:tc>
                <a:extLst>
                  <a:ext uri="{0D108BD9-81ED-4DB2-BD59-A6C34878D82A}">
                    <a16:rowId xmlns:a16="http://schemas.microsoft.com/office/drawing/2014/main" val="605106746"/>
                  </a:ext>
                </a:extLst>
              </a:tr>
              <a:tr h="220906">
                <a:tc>
                  <a:txBody>
                    <a:bodyPr/>
                    <a:lstStyle/>
                    <a:p>
                      <a:pPr>
                        <a:buNone/>
                      </a:pPr>
                      <a:r>
                        <a:rPr lang="en-US" sz="1100" dirty="0"/>
                        <a:t>Harding Pl</a:t>
                      </a:r>
                    </a:p>
                  </a:txBody>
                  <a:tcPr marL="45057" marR="45057" marT="22529" marB="22529" anchor="ctr">
                    <a:solidFill>
                      <a:schemeClr val="bg1">
                        <a:lumMod val="95000"/>
                      </a:schemeClr>
                    </a:solidFill>
                  </a:tcPr>
                </a:tc>
                <a:tc>
                  <a:txBody>
                    <a:bodyPr/>
                    <a:lstStyle/>
                    <a:p>
                      <a:pPr>
                        <a:buNone/>
                      </a:pPr>
                      <a:r>
                        <a:rPr lang="en-US" sz="1100" dirty="0"/>
                        <a:t>89</a:t>
                      </a:r>
                    </a:p>
                  </a:txBody>
                  <a:tcPr marL="45057" marR="45057" marT="22529" marB="22529" anchor="ctr">
                    <a:solidFill>
                      <a:schemeClr val="bg1">
                        <a:lumMod val="95000"/>
                      </a:schemeClr>
                    </a:solidFill>
                  </a:tcPr>
                </a:tc>
                <a:extLst>
                  <a:ext uri="{0D108BD9-81ED-4DB2-BD59-A6C34878D82A}">
                    <a16:rowId xmlns:a16="http://schemas.microsoft.com/office/drawing/2014/main" val="2717502932"/>
                  </a:ext>
                </a:extLst>
              </a:tr>
              <a:tr h="220906">
                <a:tc>
                  <a:txBody>
                    <a:bodyPr/>
                    <a:lstStyle/>
                    <a:p>
                      <a:pPr>
                        <a:buNone/>
                      </a:pPr>
                      <a:r>
                        <a:rPr lang="en-US" sz="1100" dirty="0"/>
                        <a:t>Granny White Pike</a:t>
                      </a:r>
                    </a:p>
                  </a:txBody>
                  <a:tcPr marL="45057" marR="45057" marT="22529" marB="22529" anchor="ctr">
                    <a:solidFill>
                      <a:schemeClr val="bg1">
                        <a:lumMod val="95000"/>
                      </a:schemeClr>
                    </a:solidFill>
                  </a:tcPr>
                </a:tc>
                <a:tc>
                  <a:txBody>
                    <a:bodyPr/>
                    <a:lstStyle/>
                    <a:p>
                      <a:pPr>
                        <a:buNone/>
                      </a:pPr>
                      <a:r>
                        <a:rPr lang="en-US" sz="1100" dirty="0"/>
                        <a:t>80</a:t>
                      </a:r>
                    </a:p>
                  </a:txBody>
                  <a:tcPr marL="45057" marR="45057" marT="22529" marB="22529" anchor="ctr">
                    <a:solidFill>
                      <a:schemeClr val="bg1">
                        <a:lumMod val="95000"/>
                      </a:schemeClr>
                    </a:solidFill>
                  </a:tcPr>
                </a:tc>
                <a:extLst>
                  <a:ext uri="{0D108BD9-81ED-4DB2-BD59-A6C34878D82A}">
                    <a16:rowId xmlns:a16="http://schemas.microsoft.com/office/drawing/2014/main" val="1854458785"/>
                  </a:ext>
                </a:extLst>
              </a:tr>
              <a:tr h="220906">
                <a:tc>
                  <a:txBody>
                    <a:bodyPr/>
                    <a:lstStyle/>
                    <a:p>
                      <a:pPr>
                        <a:buNone/>
                      </a:pPr>
                      <a:r>
                        <a:rPr lang="en-US" sz="1100" dirty="0"/>
                        <a:t>Clarksville Pike</a:t>
                      </a:r>
                    </a:p>
                  </a:txBody>
                  <a:tcPr marL="45057" marR="45057" marT="22529" marB="22529" anchor="ctr">
                    <a:solidFill>
                      <a:schemeClr val="bg1">
                        <a:lumMod val="95000"/>
                      </a:schemeClr>
                    </a:solidFill>
                  </a:tcPr>
                </a:tc>
                <a:tc>
                  <a:txBody>
                    <a:bodyPr/>
                    <a:lstStyle/>
                    <a:p>
                      <a:pPr>
                        <a:buNone/>
                      </a:pPr>
                      <a:r>
                        <a:rPr lang="en-US" sz="1100" dirty="0"/>
                        <a:t>63</a:t>
                      </a:r>
                    </a:p>
                  </a:txBody>
                  <a:tcPr marL="45057" marR="45057" marT="22529" marB="22529" anchor="ctr">
                    <a:solidFill>
                      <a:schemeClr val="bg1">
                        <a:lumMod val="95000"/>
                      </a:schemeClr>
                    </a:solidFill>
                  </a:tcPr>
                </a:tc>
                <a:extLst>
                  <a:ext uri="{0D108BD9-81ED-4DB2-BD59-A6C34878D82A}">
                    <a16:rowId xmlns:a16="http://schemas.microsoft.com/office/drawing/2014/main" val="109648940"/>
                  </a:ext>
                </a:extLst>
              </a:tr>
            </a:tbl>
          </a:graphicData>
        </a:graphic>
      </p:graphicFrame>
      <p:pic>
        <p:nvPicPr>
          <p:cNvPr id="4" name="Picture 3">
            <a:extLst>
              <a:ext uri="{FF2B5EF4-FFF2-40B4-BE49-F238E27FC236}">
                <a16:creationId xmlns:a16="http://schemas.microsoft.com/office/drawing/2014/main" id="{50BA1C90-AA84-4E94-FFFA-4C2F6713D20A}"/>
              </a:ext>
            </a:extLst>
          </p:cNvPr>
          <p:cNvPicPr>
            <a:picLocks noChangeAspect="1"/>
          </p:cNvPicPr>
          <p:nvPr/>
        </p:nvPicPr>
        <p:blipFill>
          <a:blip r:embed="rId2"/>
          <a:stretch>
            <a:fillRect/>
          </a:stretch>
        </p:blipFill>
        <p:spPr>
          <a:xfrm>
            <a:off x="1623631" y="1913049"/>
            <a:ext cx="3365335" cy="3013287"/>
          </a:xfrm>
          <a:prstGeom prst="rect">
            <a:avLst/>
          </a:prstGeom>
        </p:spPr>
      </p:pic>
    </p:spTree>
    <p:extLst>
      <p:ext uri="{BB962C8B-B14F-4D97-AF65-F5344CB8AC3E}">
        <p14:creationId xmlns:p14="http://schemas.microsoft.com/office/powerpoint/2010/main" val="1300224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10FE7-F438-E3C9-47E9-14CDDD313E0C}"/>
              </a:ext>
            </a:extLst>
          </p:cNvPr>
          <p:cNvSpPr>
            <a:spLocks noGrp="1"/>
          </p:cNvSpPr>
          <p:nvPr>
            <p:ph type="title"/>
          </p:nvPr>
        </p:nvSpPr>
        <p:spPr/>
        <p:txBody>
          <a:bodyPr/>
          <a:lstStyle/>
          <a:p>
            <a:r>
              <a:rPr lang="en-US" dirty="0"/>
              <a:t>Geographic Analysis</a:t>
            </a:r>
          </a:p>
        </p:txBody>
      </p:sp>
      <p:sp>
        <p:nvSpPr>
          <p:cNvPr id="3" name="Content Placeholder 2">
            <a:extLst>
              <a:ext uri="{FF2B5EF4-FFF2-40B4-BE49-F238E27FC236}">
                <a16:creationId xmlns:a16="http://schemas.microsoft.com/office/drawing/2014/main" id="{AA977845-EAC0-5F2B-9F13-6A4E9A551A74}"/>
              </a:ext>
            </a:extLst>
          </p:cNvPr>
          <p:cNvSpPr>
            <a:spLocks noGrp="1"/>
          </p:cNvSpPr>
          <p:nvPr>
            <p:ph idx="1"/>
          </p:nvPr>
        </p:nvSpPr>
        <p:spPr>
          <a:xfrm>
            <a:off x="838200" y="5153891"/>
            <a:ext cx="10515600" cy="1338984"/>
          </a:xfrm>
        </p:spPr>
        <p:txBody>
          <a:bodyPr>
            <a:normAutofit/>
          </a:bodyPr>
          <a:lstStyle/>
          <a:p>
            <a:r>
              <a:rPr lang="en-US" dirty="0"/>
              <a:t>The highest number of missed pickups are in the southeast of the city, though addresses near downtown Nashville that report missed pickups report them more frequently than in other areas.</a:t>
            </a:r>
          </a:p>
        </p:txBody>
      </p:sp>
      <p:pic>
        <p:nvPicPr>
          <p:cNvPr id="6" name="Picture 5">
            <a:extLst>
              <a:ext uri="{FF2B5EF4-FFF2-40B4-BE49-F238E27FC236}">
                <a16:creationId xmlns:a16="http://schemas.microsoft.com/office/drawing/2014/main" id="{8E9CA6EE-C247-FEE4-5653-C7B462858DD4}"/>
              </a:ext>
            </a:extLst>
          </p:cNvPr>
          <p:cNvPicPr>
            <a:picLocks noChangeAspect="1"/>
          </p:cNvPicPr>
          <p:nvPr/>
        </p:nvPicPr>
        <p:blipFill>
          <a:blip r:embed="rId2"/>
          <a:srcRect t="11523"/>
          <a:stretch>
            <a:fillRect/>
          </a:stretch>
        </p:blipFill>
        <p:spPr>
          <a:xfrm>
            <a:off x="1228954" y="1916582"/>
            <a:ext cx="10124846" cy="2881834"/>
          </a:xfrm>
          <a:prstGeom prst="rect">
            <a:avLst/>
          </a:prstGeom>
        </p:spPr>
      </p:pic>
    </p:spTree>
    <p:extLst>
      <p:ext uri="{BB962C8B-B14F-4D97-AF65-F5344CB8AC3E}">
        <p14:creationId xmlns:p14="http://schemas.microsoft.com/office/powerpoint/2010/main" val="2572052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F00E002-74B9-64FA-999C-73E046FFD86A}"/>
              </a:ext>
            </a:extLst>
          </p:cNvPr>
          <p:cNvSpPr>
            <a:spLocks noGrp="1"/>
          </p:cNvSpPr>
          <p:nvPr>
            <p:ph type="title"/>
          </p:nvPr>
        </p:nvSpPr>
        <p:spPr/>
        <p:txBody>
          <a:bodyPr/>
          <a:lstStyle/>
          <a:p>
            <a:r>
              <a:rPr lang="en-US" dirty="0"/>
              <a:t>Trash Hauler Locations</a:t>
            </a:r>
          </a:p>
        </p:txBody>
      </p:sp>
      <p:sp>
        <p:nvSpPr>
          <p:cNvPr id="6" name="Content Placeholder 5">
            <a:extLst>
              <a:ext uri="{FF2B5EF4-FFF2-40B4-BE49-F238E27FC236}">
                <a16:creationId xmlns:a16="http://schemas.microsoft.com/office/drawing/2014/main" id="{00B73D35-EF36-10BA-0242-594B388C1CB1}"/>
              </a:ext>
            </a:extLst>
          </p:cNvPr>
          <p:cNvSpPr>
            <a:spLocks noGrp="1"/>
          </p:cNvSpPr>
          <p:nvPr>
            <p:ph idx="1"/>
          </p:nvPr>
        </p:nvSpPr>
        <p:spPr>
          <a:xfrm>
            <a:off x="838200" y="5114673"/>
            <a:ext cx="10515600" cy="1378202"/>
          </a:xfrm>
        </p:spPr>
        <p:txBody>
          <a:bodyPr>
            <a:normAutofit/>
          </a:bodyPr>
          <a:lstStyle/>
          <a:p>
            <a:r>
              <a:rPr lang="en-US" dirty="0"/>
              <a:t>Each trash hauler’s fines are focused in different areas of the city, but no trash hauler’s fines are evenly spread across their territory, possibly due to differences in population density.</a:t>
            </a:r>
          </a:p>
        </p:txBody>
      </p:sp>
      <p:pic>
        <p:nvPicPr>
          <p:cNvPr id="3" name="Picture 2" descr="A map of australia with different colors&#10;&#10;AI-generated content may be incorrect.">
            <a:extLst>
              <a:ext uri="{FF2B5EF4-FFF2-40B4-BE49-F238E27FC236}">
                <a16:creationId xmlns:a16="http://schemas.microsoft.com/office/drawing/2014/main" id="{85055DD0-FB48-FB50-2565-8E69E76E6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1774527"/>
            <a:ext cx="9707270" cy="3230889"/>
          </a:xfrm>
          <a:prstGeom prst="rect">
            <a:avLst/>
          </a:prstGeom>
        </p:spPr>
      </p:pic>
    </p:spTree>
    <p:extLst>
      <p:ext uri="{BB962C8B-B14F-4D97-AF65-F5344CB8AC3E}">
        <p14:creationId xmlns:p14="http://schemas.microsoft.com/office/powerpoint/2010/main" val="2849759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FDFF5-7F16-36C3-CDF5-C31DC89FCA16}"/>
              </a:ext>
            </a:extLst>
          </p:cNvPr>
          <p:cNvSpPr>
            <a:spLocks noGrp="1"/>
          </p:cNvSpPr>
          <p:nvPr>
            <p:ph type="title"/>
          </p:nvPr>
        </p:nvSpPr>
        <p:spPr>
          <a:xfrm>
            <a:off x="1097280" y="286603"/>
            <a:ext cx="10058400" cy="1450757"/>
          </a:xfrm>
        </p:spPr>
        <p:txBody>
          <a:bodyPr>
            <a:normAutofit/>
          </a:bodyPr>
          <a:lstStyle/>
          <a:p>
            <a:r>
              <a:rPr lang="en-US" dirty="0"/>
              <a:t>Conclusions</a:t>
            </a:r>
          </a:p>
        </p:txBody>
      </p:sp>
      <p:graphicFrame>
        <p:nvGraphicFramePr>
          <p:cNvPr id="5" name="Content Placeholder 2">
            <a:extLst>
              <a:ext uri="{FF2B5EF4-FFF2-40B4-BE49-F238E27FC236}">
                <a16:creationId xmlns:a16="http://schemas.microsoft.com/office/drawing/2014/main" id="{C72D9C4D-F787-0F58-491D-8ED958F37543}"/>
              </a:ext>
            </a:extLst>
          </p:cNvPr>
          <p:cNvGraphicFramePr>
            <a:graphicFrameLocks noGrp="1"/>
          </p:cNvGraphicFramePr>
          <p:nvPr>
            <p:ph idx="1"/>
            <p:extLst>
              <p:ext uri="{D42A27DB-BD31-4B8C-83A1-F6EECF244321}">
                <p14:modId xmlns:p14="http://schemas.microsoft.com/office/powerpoint/2010/main" val="2019324916"/>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6121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C4AAA502-5435-489E-9538-3A40E6C71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94659E-E5C0-A4B2-3179-89CC4B56AA5C}"/>
              </a:ext>
            </a:extLst>
          </p:cNvPr>
          <p:cNvSpPr>
            <a:spLocks noGrp="1"/>
          </p:cNvSpPr>
          <p:nvPr>
            <p:ph type="title"/>
          </p:nvPr>
        </p:nvSpPr>
        <p:spPr>
          <a:xfrm>
            <a:off x="633999" y="4550229"/>
            <a:ext cx="10909073" cy="1057655"/>
          </a:xfrm>
        </p:spPr>
        <p:txBody>
          <a:bodyPr vert="horz" lIns="91440" tIns="45720" rIns="91440" bIns="45720" rtlCol="0" anchor="b">
            <a:normAutofit/>
          </a:bodyPr>
          <a:lstStyle/>
          <a:p>
            <a:r>
              <a:rPr lang="en-US" sz="6000">
                <a:solidFill>
                  <a:schemeClr val="tx1">
                    <a:lumMod val="85000"/>
                    <a:lumOff val="15000"/>
                  </a:schemeClr>
                </a:solidFill>
              </a:rPr>
              <a:t>Conclusions</a:t>
            </a:r>
          </a:p>
        </p:txBody>
      </p:sp>
      <p:sp>
        <p:nvSpPr>
          <p:cNvPr id="4" name="Content Placeholder 3">
            <a:extLst>
              <a:ext uri="{FF2B5EF4-FFF2-40B4-BE49-F238E27FC236}">
                <a16:creationId xmlns:a16="http://schemas.microsoft.com/office/drawing/2014/main" id="{D08D1D1D-CE24-B387-93FF-83A8747DB88C}"/>
              </a:ext>
            </a:extLst>
          </p:cNvPr>
          <p:cNvSpPr>
            <a:spLocks noGrp="1"/>
          </p:cNvSpPr>
          <p:nvPr>
            <p:ph sz="half" idx="2"/>
          </p:nvPr>
        </p:nvSpPr>
        <p:spPr>
          <a:xfrm>
            <a:off x="633999" y="5727515"/>
            <a:ext cx="10925101" cy="515477"/>
          </a:xfrm>
        </p:spPr>
        <p:txBody>
          <a:bodyPr vert="horz" lIns="91440" tIns="45720" rIns="91440" bIns="45720" rtlCol="0">
            <a:normAutofit/>
          </a:bodyPr>
          <a:lstStyle/>
          <a:p>
            <a:pPr marL="0" indent="0">
              <a:buNone/>
            </a:pPr>
            <a:r>
              <a:rPr lang="en-US" cap="all" spc="200">
                <a:solidFill>
                  <a:schemeClr val="tx1">
                    <a:lumMod val="85000"/>
                    <a:lumOff val="15000"/>
                  </a:schemeClr>
                </a:solidFill>
                <a:latin typeface="+mj-lt"/>
              </a:rPr>
              <a:t>The request categories are inconsistently used by residents.</a:t>
            </a:r>
          </a:p>
        </p:txBody>
      </p:sp>
      <p:pic>
        <p:nvPicPr>
          <p:cNvPr id="6" name="Content Placeholder 5" descr="A group of rectangular objects with text&#10;&#10;AI-generated content may be incorrect.">
            <a:extLst>
              <a:ext uri="{FF2B5EF4-FFF2-40B4-BE49-F238E27FC236}">
                <a16:creationId xmlns:a16="http://schemas.microsoft.com/office/drawing/2014/main" id="{9D6677EE-92C0-CE12-A96B-9B9D30DE166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07658" y="707422"/>
            <a:ext cx="7278254" cy="3602736"/>
          </a:xfrm>
          <a:prstGeom prst="rect">
            <a:avLst/>
          </a:prstGeom>
        </p:spPr>
      </p:pic>
      <p:cxnSp>
        <p:nvCxnSpPr>
          <p:cNvPr id="19" name="Straight Connector 18">
            <a:extLst>
              <a:ext uri="{FF2B5EF4-FFF2-40B4-BE49-F238E27FC236}">
                <a16:creationId xmlns:a16="http://schemas.microsoft.com/office/drawing/2014/main" id="{C9AC0290-4702-4519-B0F4-C2A4688099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DE42378B-2E28-4810-8421-7A473A40E3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0D91DD17-237F-4811-BC0E-128EB1BD7C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160328979"/>
      </p:ext>
    </p:extLst>
  </p:cSld>
  <p:clrMapOvr>
    <a:masterClrMapping/>
  </p:clrMapOvr>
</p:sld>
</file>

<file path=ppt/theme/theme1.xml><?xml version="1.0" encoding="utf-8"?>
<a:theme xmlns:a="http://schemas.openxmlformats.org/drawingml/2006/main" name="Retrospect">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162</TotalTime>
  <Words>832</Words>
  <Application>Microsoft Office PowerPoint</Application>
  <PresentationFormat>Widescreen</PresentationFormat>
  <Paragraphs>70</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Calibri</vt:lpstr>
      <vt:lpstr>Calibri Light</vt:lpstr>
      <vt:lpstr>Retrospect</vt:lpstr>
      <vt:lpstr>Missed Trash Pickups in Nashville</vt:lpstr>
      <vt:lpstr>Project Goals</vt:lpstr>
      <vt:lpstr>Data Retrieval &amp; Cleaning</vt:lpstr>
      <vt:lpstr>Damages for Chronic Missed Pickups</vt:lpstr>
      <vt:lpstr>Other Fine Structures</vt:lpstr>
      <vt:lpstr>How do metro crews compare to Red River?</vt:lpstr>
      <vt:lpstr>Routes with Highest Missed Pickups (By Hauler)</vt:lpstr>
      <vt:lpstr>Missed pickups by Month </vt:lpstr>
      <vt:lpstr>Frequently Missed Locations</vt:lpstr>
      <vt:lpstr>Geographic Analysis</vt:lpstr>
      <vt:lpstr>Trash Hauler Locations</vt:lpstr>
      <vt:lpstr>Conclusions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Raven Edgerton</dc:creator>
  <cp:lastModifiedBy>Eric Sanders</cp:lastModifiedBy>
  <cp:revision>6</cp:revision>
  <dcterms:created xsi:type="dcterms:W3CDTF">2025-11-21T16:32:12Z</dcterms:created>
  <dcterms:modified xsi:type="dcterms:W3CDTF">2025-11-21T21:00:46Z</dcterms:modified>
</cp:coreProperties>
</file>